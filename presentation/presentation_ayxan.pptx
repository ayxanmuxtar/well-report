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60689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640080" y="2194560"/>
            <a:ext cx="109728" cy="2286000"/>
          </a:xfrm>
          <a:prstGeom prst="rect">
            <a:avLst/>
          </a:prstGeom>
          <a:solidFill>
            <a:srgbClr val="F97316"/>
          </a:solidFill>
          <a:ln w="12700">
            <a:solidFill>
              <a:srgbClr val="F97316"/>
            </a:solidFill>
            <a:prstDash val="solid"/>
          </a:ln>
        </p:spPr>
        <p:txBody>
          <a:bodyPr/>
          <a:lstStyle/>
          <a:p>
            <a:endParaRPr lang="en-US"/>
          </a:p>
        </p:txBody>
      </p:sp>
      <p:sp>
        <p:nvSpPr>
          <p:cNvPr id="3" name="Text 1"/>
          <p:cNvSpPr/>
          <p:nvPr/>
        </p:nvSpPr>
        <p:spPr>
          <a:xfrm>
            <a:off x="1203649" y="2491272"/>
            <a:ext cx="10058400" cy="1166327"/>
          </a:xfrm>
          <a:prstGeom prst="rect">
            <a:avLst/>
          </a:prstGeom>
          <a:noFill/>
          <a:ln/>
        </p:spPr>
        <p:txBody>
          <a:bodyPr wrap="square" lIns="0" tIns="0" rIns="0" bIns="0" rtlCol="0" anchor="ctr"/>
          <a:lstStyle/>
          <a:p>
            <a:pPr marL="0" indent="0">
              <a:buNone/>
            </a:pPr>
            <a:r>
              <a:rPr lang="en-US" sz="4800" kern="0" spc="600" dirty="0" err="1">
                <a:solidFill>
                  <a:srgbClr val="9CB4D9"/>
                </a:solidFill>
                <a:latin typeface="Calibri" pitchFamily="34" charset="0"/>
                <a:ea typeface="Calibri" pitchFamily="34" charset="-122"/>
                <a:cs typeface="Calibri" pitchFamily="34" charset="-120"/>
              </a:rPr>
              <a:t>eiLink</a:t>
            </a:r>
            <a:r>
              <a:rPr lang="en-US" sz="4800" kern="0" spc="600" dirty="0">
                <a:solidFill>
                  <a:srgbClr val="9CB4D9"/>
                </a:solidFill>
                <a:latin typeface="Calibri" pitchFamily="34" charset="0"/>
                <a:ea typeface="Calibri" pitchFamily="34" charset="-122"/>
                <a:cs typeface="Calibri" pitchFamily="34" charset="-120"/>
              </a:rPr>
              <a:t> Task Presentation</a:t>
            </a:r>
            <a:endParaRPr lang="en-US" sz="4800" dirty="0"/>
          </a:p>
        </p:txBody>
      </p:sp>
      <p:sp>
        <p:nvSpPr>
          <p:cNvPr id="5" name="Text 3"/>
          <p:cNvSpPr/>
          <p:nvPr/>
        </p:nvSpPr>
        <p:spPr>
          <a:xfrm>
            <a:off x="998376" y="3657599"/>
            <a:ext cx="10972800" cy="457200"/>
          </a:xfrm>
          <a:prstGeom prst="rect">
            <a:avLst/>
          </a:prstGeom>
          <a:noFill/>
          <a:ln/>
        </p:spPr>
        <p:txBody>
          <a:bodyPr wrap="square" lIns="0" tIns="0" rIns="0" bIns="0" rtlCol="0" anchor="ctr"/>
          <a:lstStyle/>
          <a:p>
            <a:pPr marL="0" indent="0">
              <a:buNone/>
            </a:pPr>
            <a:endParaRPr lang="en-US" sz="1800" dirty="0"/>
          </a:p>
        </p:txBody>
      </p:sp>
      <p:sp>
        <p:nvSpPr>
          <p:cNvPr id="6" name="Text 4"/>
          <p:cNvSpPr/>
          <p:nvPr/>
        </p:nvSpPr>
        <p:spPr>
          <a:xfrm>
            <a:off x="914400" y="5120640"/>
            <a:ext cx="4572000" cy="274320"/>
          </a:xfrm>
          <a:prstGeom prst="rect">
            <a:avLst/>
          </a:prstGeom>
          <a:noFill/>
          <a:ln/>
        </p:spPr>
        <p:txBody>
          <a:bodyPr wrap="square" lIns="0" tIns="0" rIns="0" bIns="0" rtlCol="0" anchor="ctr"/>
          <a:lstStyle/>
          <a:p>
            <a:pPr marL="0" indent="0">
              <a:buNone/>
            </a:pPr>
            <a:r>
              <a:rPr lang="en-US" sz="1100" kern="0" spc="300" dirty="0">
                <a:solidFill>
                  <a:srgbClr val="9CB4D9"/>
                </a:solidFill>
                <a:latin typeface="Calibri" pitchFamily="34" charset="0"/>
                <a:ea typeface="Calibri" pitchFamily="34" charset="-122"/>
                <a:cs typeface="Calibri" pitchFamily="34" charset="-120"/>
              </a:rPr>
              <a:t>Submitted by</a:t>
            </a:r>
            <a:endParaRPr lang="en-US" sz="1100" dirty="0"/>
          </a:p>
        </p:txBody>
      </p:sp>
      <p:sp>
        <p:nvSpPr>
          <p:cNvPr id="7" name="Text 5"/>
          <p:cNvSpPr/>
          <p:nvPr/>
        </p:nvSpPr>
        <p:spPr>
          <a:xfrm>
            <a:off x="914400" y="5394960"/>
            <a:ext cx="7315200" cy="4572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Ayxan Muxtar</a:t>
            </a:r>
            <a:endParaRPr lang="en-US" sz="2400" dirty="0"/>
          </a:p>
        </p:txBody>
      </p:sp>
      <p:sp>
        <p:nvSpPr>
          <p:cNvPr id="8" name="Text 6"/>
          <p:cNvSpPr/>
          <p:nvPr/>
        </p:nvSpPr>
        <p:spPr>
          <a:xfrm>
            <a:off x="914400" y="5897880"/>
            <a:ext cx="7315200" cy="274320"/>
          </a:xfrm>
          <a:prstGeom prst="rect">
            <a:avLst/>
          </a:prstGeom>
          <a:noFill/>
          <a:ln/>
        </p:spPr>
        <p:txBody>
          <a:bodyPr wrap="square" lIns="0" tIns="0" rIns="0" bIns="0" rtlCol="0" anchor="ctr"/>
          <a:lstStyle/>
          <a:p>
            <a:pPr marL="0" indent="0">
              <a:buNone/>
            </a:pPr>
            <a:r>
              <a:rPr lang="en-US" sz="1100" i="1" dirty="0">
                <a:solidFill>
                  <a:srgbClr val="9CB4D9"/>
                </a:solidFill>
                <a:latin typeface="Calibri" pitchFamily="34" charset="0"/>
                <a:ea typeface="Calibri" pitchFamily="34" charset="-122"/>
                <a:cs typeface="Calibri" pitchFamily="34" charset="-120"/>
              </a:rPr>
              <a:t>github.com/AyxanMuxtar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1C7293"/>
          </a:solidFill>
          <a:ln w="12700">
            <a:solidFill>
              <a:srgbClr val="1C7293"/>
            </a:solidFill>
            <a:prstDash val="solid"/>
          </a:ln>
        </p:spPr>
        <p:txBody>
          <a:bodyPr/>
          <a:lstStyle/>
          <a:p>
            <a:endParaRPr lang="en-US"/>
          </a:p>
        </p:txBody>
      </p:sp>
      <p:sp>
        <p:nvSpPr>
          <p:cNvPr id="3" name="Text 1"/>
          <p:cNvSpPr/>
          <p:nvPr/>
        </p:nvSpPr>
        <p:spPr>
          <a:xfrm>
            <a:off x="502920" y="228600"/>
            <a:ext cx="548640" cy="457200"/>
          </a:xfrm>
          <a:prstGeom prst="rect">
            <a:avLst/>
          </a:prstGeom>
          <a:noFill/>
          <a:ln/>
        </p:spPr>
        <p:txBody>
          <a:bodyPr wrap="square" lIns="0" tIns="0" rIns="0" bIns="0" rtlCol="0" anchor="ctr"/>
          <a:lstStyle/>
          <a:p>
            <a:pPr marL="0" indent="0">
              <a:buNone/>
            </a:pPr>
            <a:r>
              <a:rPr lang="en-US" sz="2800" b="1" dirty="0">
                <a:solidFill>
                  <a:srgbClr val="1C7293"/>
                </a:solidFill>
                <a:latin typeface="Calibri" pitchFamily="34" charset="0"/>
                <a:ea typeface="Calibri" pitchFamily="34" charset="-122"/>
                <a:cs typeface="Calibri" pitchFamily="34" charset="-120"/>
              </a:rPr>
              <a:t>02</a:t>
            </a:r>
            <a:endParaRPr lang="en-US" sz="2800" dirty="0"/>
          </a:p>
        </p:txBody>
      </p:sp>
      <p:sp>
        <p:nvSpPr>
          <p:cNvPr id="4" name="Text 2"/>
          <p:cNvSpPr/>
          <p:nvPr/>
        </p:nvSpPr>
        <p:spPr>
          <a:xfrm>
            <a:off x="1097280" y="228600"/>
            <a:ext cx="1060704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The brief, in one sentence</a:t>
            </a:r>
            <a:endParaRPr lang="en-US" sz="2600" dirty="0"/>
          </a:p>
        </p:txBody>
      </p:sp>
      <p:sp>
        <p:nvSpPr>
          <p:cNvPr id="5" name="Text 3"/>
          <p:cNvSpPr/>
          <p:nvPr/>
        </p:nvSpPr>
        <p:spPr>
          <a:xfrm>
            <a:off x="1097280" y="713232"/>
            <a:ext cx="1060704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Three tasks that look independent but secretly aren't</a:t>
            </a:r>
            <a:endParaRPr lang="en-US" sz="1300" dirty="0"/>
          </a:p>
        </p:txBody>
      </p:sp>
      <p:sp>
        <p:nvSpPr>
          <p:cNvPr id="6" name="Shape 4"/>
          <p:cNvSpPr/>
          <p:nvPr/>
        </p:nvSpPr>
        <p:spPr>
          <a:xfrm>
            <a:off x="502920" y="1143000"/>
            <a:ext cx="11155680" cy="868680"/>
          </a:xfrm>
          <a:prstGeom prst="rect">
            <a:avLst/>
          </a:prstGeom>
          <a:solidFill>
            <a:srgbClr val="E6F1F7"/>
          </a:solidFill>
          <a:ln w="12700">
            <a:solidFill>
              <a:srgbClr val="E6F1F7"/>
            </a:solidFill>
            <a:prstDash val="solid"/>
          </a:ln>
        </p:spPr>
        <p:txBody>
          <a:bodyPr/>
          <a:lstStyle/>
          <a:p>
            <a:endParaRPr lang="en-US"/>
          </a:p>
        </p:txBody>
      </p:sp>
      <p:sp>
        <p:nvSpPr>
          <p:cNvPr id="7" name="Shape 5"/>
          <p:cNvSpPr/>
          <p:nvPr/>
        </p:nvSpPr>
        <p:spPr>
          <a:xfrm>
            <a:off x="502920" y="1143000"/>
            <a:ext cx="91440" cy="868680"/>
          </a:xfrm>
          <a:prstGeom prst="rect">
            <a:avLst/>
          </a:prstGeom>
          <a:solidFill>
            <a:srgbClr val="F97316"/>
          </a:solidFill>
          <a:ln w="12700">
            <a:solidFill>
              <a:srgbClr val="F97316"/>
            </a:solidFill>
            <a:prstDash val="solid"/>
          </a:ln>
        </p:spPr>
        <p:txBody>
          <a:bodyPr/>
          <a:lstStyle/>
          <a:p>
            <a:endParaRPr lang="en-US"/>
          </a:p>
        </p:txBody>
      </p:sp>
      <p:sp>
        <p:nvSpPr>
          <p:cNvPr id="8" name="Text 6"/>
          <p:cNvSpPr/>
          <p:nvPr/>
        </p:nvSpPr>
        <p:spPr>
          <a:xfrm>
            <a:off x="777240" y="1234440"/>
            <a:ext cx="10058400" cy="274320"/>
          </a:xfrm>
          <a:prstGeom prst="rect">
            <a:avLst/>
          </a:prstGeom>
          <a:noFill/>
          <a:ln/>
        </p:spPr>
        <p:txBody>
          <a:bodyPr wrap="square" lIns="0" tIns="0" rIns="0" bIns="0" rtlCol="0" anchor="ctr"/>
          <a:lstStyle/>
          <a:p>
            <a:pPr marL="0" indent="0">
              <a:buNone/>
            </a:pPr>
            <a:r>
              <a:rPr lang="en-US" sz="1100" b="1" kern="0" spc="300" dirty="0">
                <a:solidFill>
                  <a:srgbClr val="F97316"/>
                </a:solidFill>
                <a:latin typeface="Calibri" pitchFamily="34" charset="0"/>
                <a:ea typeface="Calibri" pitchFamily="34" charset="-122"/>
                <a:cs typeface="Calibri" pitchFamily="34" charset="-120"/>
              </a:rPr>
              <a:t>THE BRIEF</a:t>
            </a:r>
            <a:endParaRPr lang="en-US" sz="1100" dirty="0"/>
          </a:p>
        </p:txBody>
      </p:sp>
      <p:sp>
        <p:nvSpPr>
          <p:cNvPr id="9" name="Text 7"/>
          <p:cNvSpPr/>
          <p:nvPr/>
        </p:nvSpPr>
        <p:spPr>
          <a:xfrm>
            <a:off x="777240" y="1508760"/>
            <a:ext cx="10698480" cy="502920"/>
          </a:xfrm>
          <a:prstGeom prst="rect">
            <a:avLst/>
          </a:prstGeom>
          <a:noFill/>
          <a:ln/>
        </p:spPr>
        <p:txBody>
          <a:bodyPr wrap="square" lIns="0" tIns="0" rIns="0" bIns="0" rtlCol="0" anchor="ctr"/>
          <a:lstStyle/>
          <a:p>
            <a:pPr marL="0" indent="0">
              <a:buNone/>
            </a:pPr>
            <a:r>
              <a:rPr lang="en-US" sz="1300" i="1" dirty="0">
                <a:solidFill>
                  <a:srgbClr val="1E293B"/>
                </a:solidFill>
                <a:latin typeface="Calibri" pitchFamily="34" charset="0"/>
                <a:ea typeface="Calibri" pitchFamily="34" charset="-122"/>
                <a:cs typeface="Calibri" pitchFamily="34" charset="-120"/>
              </a:rPr>
              <a:t>"Parse 1,000 drilling-report PDFs into a database, match a small set of NDS events against the operations that describe them, and run NLP analysis (NER, activity tagging, keywords) on the free-text remarks."</a:t>
            </a:r>
            <a:endParaRPr lang="en-US" sz="1300" dirty="0"/>
          </a:p>
        </p:txBody>
      </p:sp>
      <p:sp>
        <p:nvSpPr>
          <p:cNvPr id="10" name="Text 8"/>
          <p:cNvSpPr/>
          <p:nvPr/>
        </p:nvSpPr>
        <p:spPr>
          <a:xfrm>
            <a:off x="502920" y="2286000"/>
            <a:ext cx="10972800" cy="274320"/>
          </a:xfrm>
          <a:prstGeom prst="rect">
            <a:avLst/>
          </a:prstGeom>
          <a:noFill/>
          <a:ln/>
        </p:spPr>
        <p:txBody>
          <a:bodyPr wrap="square" lIns="0" tIns="0" rIns="0" bIns="0" rtlCol="0" anchor="ctr"/>
          <a:lstStyle/>
          <a:p>
            <a:pPr marL="0" indent="0">
              <a:buNone/>
            </a:pPr>
            <a:r>
              <a:rPr lang="en-US" sz="1100" b="1" kern="0" spc="300" dirty="0">
                <a:solidFill>
                  <a:srgbClr val="1C7293"/>
                </a:solidFill>
                <a:latin typeface="Calibri" pitchFamily="34" charset="0"/>
                <a:ea typeface="Calibri" pitchFamily="34" charset="-122"/>
                <a:cs typeface="Calibri" pitchFamily="34" charset="-120"/>
              </a:rPr>
              <a:t>WHAT MAKES IT HARDER THAN IT LOOKS</a:t>
            </a:r>
            <a:endParaRPr lang="en-US" sz="1100" dirty="0"/>
          </a:p>
        </p:txBody>
      </p:sp>
      <p:sp>
        <p:nvSpPr>
          <p:cNvPr id="11" name="Shape 9"/>
          <p:cNvSpPr/>
          <p:nvPr/>
        </p:nvSpPr>
        <p:spPr>
          <a:xfrm>
            <a:off x="502920" y="2606040"/>
            <a:ext cx="3657600" cy="3657600"/>
          </a:xfrm>
          <a:prstGeom prst="rect">
            <a:avLst/>
          </a:prstGeom>
          <a:solidFill>
            <a:srgbClr val="FFFFFF"/>
          </a:solidFill>
          <a:ln w="12700">
            <a:solidFill>
              <a:srgbClr val="1C7293"/>
            </a:solidFill>
            <a:prstDash val="solid"/>
          </a:ln>
        </p:spPr>
        <p:txBody>
          <a:bodyPr/>
          <a:lstStyle/>
          <a:p>
            <a:endParaRPr lang="en-US"/>
          </a:p>
        </p:txBody>
      </p:sp>
      <p:sp>
        <p:nvSpPr>
          <p:cNvPr id="12" name="Shape 10"/>
          <p:cNvSpPr/>
          <p:nvPr/>
        </p:nvSpPr>
        <p:spPr>
          <a:xfrm>
            <a:off x="685800" y="2743200"/>
            <a:ext cx="502920" cy="502920"/>
          </a:xfrm>
          <a:prstGeom prst="ellipse">
            <a:avLst/>
          </a:prstGeom>
          <a:solidFill>
            <a:srgbClr val="21295C"/>
          </a:solidFill>
          <a:ln w="12700">
            <a:solidFill>
              <a:srgbClr val="21295C"/>
            </a:solidFill>
            <a:prstDash val="solid"/>
          </a:ln>
        </p:spPr>
        <p:txBody>
          <a:bodyPr/>
          <a:lstStyle/>
          <a:p>
            <a:endParaRPr lang="en-US"/>
          </a:p>
        </p:txBody>
      </p:sp>
      <p:sp>
        <p:nvSpPr>
          <p:cNvPr id="13" name="Text 11"/>
          <p:cNvSpPr/>
          <p:nvPr/>
        </p:nvSpPr>
        <p:spPr>
          <a:xfrm>
            <a:off x="685800" y="27432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Text 12"/>
          <p:cNvSpPr/>
          <p:nvPr/>
        </p:nvSpPr>
        <p:spPr>
          <a:xfrm>
            <a:off x="1325880" y="2743200"/>
            <a:ext cx="2697480" cy="868680"/>
          </a:xfrm>
          <a:prstGeom prst="rect">
            <a:avLst/>
          </a:prstGeom>
          <a:noFill/>
          <a:ln/>
        </p:spPr>
        <p:txBody>
          <a:bodyPr wrap="square" lIns="0" tIns="0" rIns="0" bIns="0" rtlCol="0" anchor="t"/>
          <a:lstStyle/>
          <a:p>
            <a:pPr marL="0" indent="0">
              <a:buNone/>
            </a:pPr>
            <a:r>
              <a:rPr lang="en-US" sz="1400" b="1" dirty="0">
                <a:solidFill>
                  <a:srgbClr val="1E293B"/>
                </a:solidFill>
                <a:latin typeface="Calibri" pitchFamily="34" charset="0"/>
                <a:ea typeface="Calibri" pitchFamily="34" charset="-122"/>
                <a:cs typeface="Calibri" pitchFamily="34" charset="-120"/>
              </a:rPr>
              <a:t>PDFs are not data — they are pictures of data</a:t>
            </a:r>
            <a:endParaRPr lang="en-US" sz="1400" dirty="0"/>
          </a:p>
        </p:txBody>
      </p:sp>
      <p:sp>
        <p:nvSpPr>
          <p:cNvPr id="15" name="Text 13"/>
          <p:cNvSpPr/>
          <p:nvPr/>
        </p:nvSpPr>
        <p:spPr>
          <a:xfrm>
            <a:off x="731520" y="3246120"/>
            <a:ext cx="3246120" cy="288036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pdfplumber reads top-to-bottom-then-left-to-right, so a two-column header layout collapses into ambiguous lines. The cells lie about their boundaries. There is no schema to validate against.</a:t>
            </a:r>
            <a:endParaRPr lang="en-US" sz="1200" dirty="0"/>
          </a:p>
        </p:txBody>
      </p:sp>
      <p:sp>
        <p:nvSpPr>
          <p:cNvPr id="16" name="Shape 14"/>
          <p:cNvSpPr/>
          <p:nvPr/>
        </p:nvSpPr>
        <p:spPr>
          <a:xfrm>
            <a:off x="4434840" y="2606040"/>
            <a:ext cx="3657600" cy="3657600"/>
          </a:xfrm>
          <a:prstGeom prst="rect">
            <a:avLst/>
          </a:prstGeom>
          <a:solidFill>
            <a:srgbClr val="FFFFFF"/>
          </a:solidFill>
          <a:ln w="12700">
            <a:solidFill>
              <a:srgbClr val="1C7293"/>
            </a:solidFill>
            <a:prstDash val="solid"/>
          </a:ln>
        </p:spPr>
        <p:txBody>
          <a:bodyPr/>
          <a:lstStyle/>
          <a:p>
            <a:endParaRPr lang="en-US"/>
          </a:p>
        </p:txBody>
      </p:sp>
      <p:sp>
        <p:nvSpPr>
          <p:cNvPr id="17" name="Shape 15"/>
          <p:cNvSpPr/>
          <p:nvPr/>
        </p:nvSpPr>
        <p:spPr>
          <a:xfrm>
            <a:off x="4617720" y="2743200"/>
            <a:ext cx="502920" cy="502920"/>
          </a:xfrm>
          <a:prstGeom prst="ellipse">
            <a:avLst/>
          </a:prstGeom>
          <a:solidFill>
            <a:srgbClr val="21295C"/>
          </a:solidFill>
          <a:ln w="12700">
            <a:solidFill>
              <a:srgbClr val="21295C"/>
            </a:solidFill>
            <a:prstDash val="solid"/>
          </a:ln>
        </p:spPr>
        <p:txBody>
          <a:bodyPr/>
          <a:lstStyle/>
          <a:p>
            <a:endParaRPr lang="en-US"/>
          </a:p>
        </p:txBody>
      </p:sp>
      <p:sp>
        <p:nvSpPr>
          <p:cNvPr id="18" name="Text 16"/>
          <p:cNvSpPr/>
          <p:nvPr/>
        </p:nvSpPr>
        <p:spPr>
          <a:xfrm>
            <a:off x="4617720" y="27432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9" name="Text 17"/>
          <p:cNvSpPr/>
          <p:nvPr/>
        </p:nvSpPr>
        <p:spPr>
          <a:xfrm>
            <a:off x="5257800" y="2743200"/>
            <a:ext cx="2697480" cy="868680"/>
          </a:xfrm>
          <a:prstGeom prst="rect">
            <a:avLst/>
          </a:prstGeom>
          <a:noFill/>
          <a:ln/>
        </p:spPr>
        <p:txBody>
          <a:bodyPr wrap="square" lIns="0" tIns="0" rIns="0" bIns="0" rtlCol="0" anchor="t"/>
          <a:lstStyle/>
          <a:p>
            <a:pPr marL="0" indent="0">
              <a:buNone/>
            </a:pPr>
            <a:r>
              <a:rPr lang="en-US" sz="1400" b="1" dirty="0">
                <a:solidFill>
                  <a:srgbClr val="1E293B"/>
                </a:solidFill>
                <a:latin typeface="Calibri" pitchFamily="34" charset="0"/>
                <a:ea typeface="Calibri" pitchFamily="34" charset="-122"/>
                <a:cs typeface="Calibri" pitchFamily="34" charset="-120"/>
              </a:rPr>
              <a:t>The NDS events are deliberately noisy</a:t>
            </a:r>
            <a:endParaRPr lang="en-US" sz="1400" dirty="0"/>
          </a:p>
        </p:txBody>
      </p:sp>
      <p:sp>
        <p:nvSpPr>
          <p:cNvPr id="20" name="Text 18"/>
          <p:cNvSpPr/>
          <p:nvPr/>
        </p:nvSpPr>
        <p:spPr>
          <a:xfrm>
            <a:off x="4663440" y="3246120"/>
            <a:ext cx="3246120" cy="288036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Typos in critical words ('ccumulation'), Excel double-quote escape mess (26""""), abbreviation coverage that's only partial (POOH on one side, 'pull out of hole' on the other). The query is fighting you.</a:t>
            </a:r>
            <a:endParaRPr lang="en-US" sz="1200" dirty="0"/>
          </a:p>
        </p:txBody>
      </p:sp>
      <p:sp>
        <p:nvSpPr>
          <p:cNvPr id="21" name="Shape 19"/>
          <p:cNvSpPr/>
          <p:nvPr/>
        </p:nvSpPr>
        <p:spPr>
          <a:xfrm>
            <a:off x="8366760" y="2606040"/>
            <a:ext cx="3657600" cy="3657600"/>
          </a:xfrm>
          <a:prstGeom prst="rect">
            <a:avLst/>
          </a:prstGeom>
          <a:solidFill>
            <a:srgbClr val="FFFFFF"/>
          </a:solidFill>
          <a:ln w="12700">
            <a:solidFill>
              <a:srgbClr val="1C7293"/>
            </a:solidFill>
            <a:prstDash val="solid"/>
          </a:ln>
        </p:spPr>
        <p:txBody>
          <a:bodyPr/>
          <a:lstStyle/>
          <a:p>
            <a:endParaRPr lang="en-US"/>
          </a:p>
        </p:txBody>
      </p:sp>
      <p:sp>
        <p:nvSpPr>
          <p:cNvPr id="22" name="Shape 20"/>
          <p:cNvSpPr/>
          <p:nvPr/>
        </p:nvSpPr>
        <p:spPr>
          <a:xfrm>
            <a:off x="8549640" y="2743200"/>
            <a:ext cx="502920" cy="502920"/>
          </a:xfrm>
          <a:prstGeom prst="ellipse">
            <a:avLst/>
          </a:prstGeom>
          <a:solidFill>
            <a:srgbClr val="21295C"/>
          </a:solidFill>
          <a:ln w="12700">
            <a:solidFill>
              <a:srgbClr val="21295C"/>
            </a:solidFill>
            <a:prstDash val="solid"/>
          </a:ln>
        </p:spPr>
        <p:txBody>
          <a:bodyPr/>
          <a:lstStyle/>
          <a:p>
            <a:endParaRPr lang="en-US"/>
          </a:p>
        </p:txBody>
      </p:sp>
      <p:sp>
        <p:nvSpPr>
          <p:cNvPr id="23" name="Text 21"/>
          <p:cNvSpPr/>
          <p:nvPr/>
        </p:nvSpPr>
        <p:spPr>
          <a:xfrm>
            <a:off x="8549640" y="27432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4" name="Text 22"/>
          <p:cNvSpPr/>
          <p:nvPr/>
        </p:nvSpPr>
        <p:spPr>
          <a:xfrm>
            <a:off x="9189720" y="2743200"/>
            <a:ext cx="2697480" cy="868680"/>
          </a:xfrm>
          <a:prstGeom prst="rect">
            <a:avLst/>
          </a:prstGeom>
          <a:noFill/>
          <a:ln/>
        </p:spPr>
        <p:txBody>
          <a:bodyPr wrap="square" lIns="0" tIns="0" rIns="0" bIns="0" rtlCol="0" anchor="t"/>
          <a:lstStyle/>
          <a:p>
            <a:pPr marL="0" indent="0">
              <a:buNone/>
            </a:pPr>
            <a:r>
              <a:rPr lang="en-US" sz="1400" b="1" dirty="0">
                <a:solidFill>
                  <a:srgbClr val="1E293B"/>
                </a:solidFill>
                <a:latin typeface="Calibri" pitchFamily="34" charset="0"/>
                <a:ea typeface="Calibri" pitchFamily="34" charset="-122"/>
                <a:cs typeface="Calibri" pitchFamily="34" charset="-120"/>
              </a:rPr>
              <a:t>One of the four NDS events has no PDFs at all</a:t>
            </a:r>
            <a:endParaRPr lang="en-US" sz="1400" dirty="0"/>
          </a:p>
        </p:txBody>
      </p:sp>
      <p:sp>
        <p:nvSpPr>
          <p:cNvPr id="25" name="Text 23"/>
          <p:cNvSpPr/>
          <p:nvPr/>
        </p:nvSpPr>
        <p:spPr>
          <a:xfrm>
            <a:off x="8595360" y="3246120"/>
            <a:ext cx="3246120" cy="288036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Well 15/9-F-13 is referenced but isn't in the corpus. The pipeline must distinguish strict same-well matching from cross-well fallback — and label its own confidence accordingly.</a:t>
            </a:r>
            <a:endParaRPr lang="en-US" sz="1200" dirty="0"/>
          </a:p>
        </p:txBody>
      </p:sp>
      <p:sp>
        <p:nvSpPr>
          <p:cNvPr id="26" name="Text 24"/>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Ayxan Muxtar  ·  eiLink RA-DS 2026</a:t>
            </a:r>
            <a:endParaRPr lang="en-US" sz="900" dirty="0"/>
          </a:p>
        </p:txBody>
      </p:sp>
      <p:sp>
        <p:nvSpPr>
          <p:cNvPr id="27" name="Text 25"/>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1C7293"/>
          </a:solidFill>
          <a:ln w="12700">
            <a:solidFill>
              <a:srgbClr val="1C7293"/>
            </a:solidFill>
            <a:prstDash val="solid"/>
          </a:ln>
        </p:spPr>
        <p:txBody>
          <a:bodyPr/>
          <a:lstStyle/>
          <a:p>
            <a:endParaRPr lang="en-US"/>
          </a:p>
        </p:txBody>
      </p:sp>
      <p:sp>
        <p:nvSpPr>
          <p:cNvPr id="3" name="Text 1"/>
          <p:cNvSpPr/>
          <p:nvPr/>
        </p:nvSpPr>
        <p:spPr>
          <a:xfrm>
            <a:off x="502920" y="228600"/>
            <a:ext cx="548640" cy="457200"/>
          </a:xfrm>
          <a:prstGeom prst="rect">
            <a:avLst/>
          </a:prstGeom>
          <a:noFill/>
          <a:ln/>
        </p:spPr>
        <p:txBody>
          <a:bodyPr wrap="square" lIns="0" tIns="0" rIns="0" bIns="0" rtlCol="0" anchor="ctr"/>
          <a:lstStyle/>
          <a:p>
            <a:pPr marL="0" indent="0">
              <a:buNone/>
            </a:pPr>
            <a:r>
              <a:rPr lang="en-US" sz="2800" b="1" dirty="0">
                <a:solidFill>
                  <a:srgbClr val="1C7293"/>
                </a:solidFill>
                <a:latin typeface="Calibri" pitchFamily="34" charset="0"/>
                <a:ea typeface="Calibri" pitchFamily="34" charset="-122"/>
                <a:cs typeface="Calibri" pitchFamily="34" charset="-120"/>
              </a:rPr>
              <a:t>03</a:t>
            </a:r>
            <a:endParaRPr lang="en-US" sz="2800" dirty="0"/>
          </a:p>
        </p:txBody>
      </p:sp>
      <p:sp>
        <p:nvSpPr>
          <p:cNvPr id="4" name="Text 2"/>
          <p:cNvSpPr/>
          <p:nvPr/>
        </p:nvSpPr>
        <p:spPr>
          <a:xfrm>
            <a:off x="1097280" y="228600"/>
            <a:ext cx="1060704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Choosing a PDF library</a:t>
            </a:r>
            <a:endParaRPr lang="en-US" sz="2600" dirty="0"/>
          </a:p>
        </p:txBody>
      </p:sp>
      <p:sp>
        <p:nvSpPr>
          <p:cNvPr id="5" name="Text 3"/>
          <p:cNvSpPr/>
          <p:nvPr/>
        </p:nvSpPr>
        <p:spPr>
          <a:xfrm>
            <a:off x="1097280" y="713232"/>
            <a:ext cx="1060704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pdfplumber over PyMuPDF over OCR — and why</a:t>
            </a:r>
            <a:endParaRPr lang="en-US" sz="1300" dirty="0"/>
          </a:p>
        </p:txBody>
      </p:sp>
      <p:sp>
        <p:nvSpPr>
          <p:cNvPr id="6" name="Text 4"/>
          <p:cNvSpPr/>
          <p:nvPr/>
        </p:nvSpPr>
        <p:spPr>
          <a:xfrm>
            <a:off x="502920" y="1143000"/>
            <a:ext cx="10972800" cy="274320"/>
          </a:xfrm>
          <a:prstGeom prst="rect">
            <a:avLst/>
          </a:prstGeom>
          <a:noFill/>
          <a:ln/>
        </p:spPr>
        <p:txBody>
          <a:bodyPr wrap="square" lIns="0" tIns="0" rIns="0" bIns="0" rtlCol="0" anchor="ctr"/>
          <a:lstStyle/>
          <a:p>
            <a:pPr marL="0" indent="0">
              <a:buNone/>
            </a:pPr>
            <a:r>
              <a:rPr lang="en-US" sz="1100" b="1" kern="0" spc="300" dirty="0">
                <a:solidFill>
                  <a:srgbClr val="1C7293"/>
                </a:solidFill>
                <a:latin typeface="Calibri" pitchFamily="34" charset="0"/>
                <a:ea typeface="Calibri" pitchFamily="34" charset="-122"/>
                <a:cs typeface="Calibri" pitchFamily="34" charset="-120"/>
              </a:rPr>
              <a:t>THE OPTIONS I CONSIDERED</a:t>
            </a:r>
            <a:endParaRPr lang="en-US" sz="1100" dirty="0"/>
          </a:p>
        </p:txBody>
      </p:sp>
      <p:sp>
        <p:nvSpPr>
          <p:cNvPr id="7" name="Shape 5"/>
          <p:cNvSpPr/>
          <p:nvPr/>
        </p:nvSpPr>
        <p:spPr>
          <a:xfrm>
            <a:off x="502920" y="1463040"/>
            <a:ext cx="3657600" cy="4663440"/>
          </a:xfrm>
          <a:prstGeom prst="rect">
            <a:avLst/>
          </a:prstGeom>
          <a:solidFill>
            <a:srgbClr val="FFFFFF"/>
          </a:solidFill>
          <a:ln w="12700">
            <a:solidFill>
              <a:srgbClr val="CBD5E1"/>
            </a:solidFill>
            <a:prstDash val="solid"/>
          </a:ln>
        </p:spPr>
        <p:txBody>
          <a:bodyPr/>
          <a:lstStyle/>
          <a:p>
            <a:endParaRPr lang="en-US"/>
          </a:p>
        </p:txBody>
      </p:sp>
      <p:sp>
        <p:nvSpPr>
          <p:cNvPr id="8" name="Text 6"/>
          <p:cNvSpPr/>
          <p:nvPr/>
        </p:nvSpPr>
        <p:spPr>
          <a:xfrm>
            <a:off x="731520" y="1645920"/>
            <a:ext cx="3200400" cy="411480"/>
          </a:xfrm>
          <a:prstGeom prst="rect">
            <a:avLst/>
          </a:prstGeom>
          <a:noFill/>
          <a:ln/>
        </p:spPr>
        <p:txBody>
          <a:bodyPr wrap="square" lIns="0" tIns="0" rIns="0" bIns="0"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PyMuPDF (fitz)</a:t>
            </a:r>
            <a:endParaRPr lang="en-US" sz="1800" dirty="0"/>
          </a:p>
        </p:txBody>
      </p:sp>
      <p:sp>
        <p:nvSpPr>
          <p:cNvPr id="9" name="Text 7"/>
          <p:cNvSpPr/>
          <p:nvPr/>
        </p:nvSpPr>
        <p:spPr>
          <a:xfrm>
            <a:off x="731520" y="2057400"/>
            <a:ext cx="3200400" cy="274320"/>
          </a:xfrm>
          <a:prstGeom prst="rect">
            <a:avLst/>
          </a:prstGeom>
          <a:noFill/>
          <a:ln/>
        </p:spPr>
        <p:txBody>
          <a:bodyPr wrap="square" lIns="0" tIns="0" rIns="0" bIns="0" rtlCol="0" anchor="ctr"/>
          <a:lstStyle/>
          <a:p>
            <a:pPr marL="0" indent="0">
              <a:buNone/>
            </a:pPr>
            <a:r>
              <a:rPr lang="en-US" sz="1000" b="1" kern="0" spc="300" dirty="0">
                <a:solidFill>
                  <a:srgbClr val="64748B"/>
                </a:solidFill>
                <a:latin typeface="Calibri" pitchFamily="34" charset="0"/>
                <a:ea typeface="Calibri" pitchFamily="34" charset="-122"/>
                <a:cs typeface="Calibri" pitchFamily="34" charset="-120"/>
              </a:rPr>
              <a:t>REJECTED</a:t>
            </a:r>
            <a:endParaRPr lang="en-US" sz="1000" dirty="0"/>
          </a:p>
        </p:txBody>
      </p:sp>
      <p:sp>
        <p:nvSpPr>
          <p:cNvPr id="10" name="Text 8"/>
          <p:cNvSpPr/>
          <p:nvPr/>
        </p:nvSpPr>
        <p:spPr>
          <a:xfrm>
            <a:off x="731520" y="2468880"/>
            <a:ext cx="32004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PROS</a:t>
            </a:r>
            <a:endParaRPr lang="en-US" sz="900" dirty="0"/>
          </a:p>
        </p:txBody>
      </p:sp>
      <p:sp>
        <p:nvSpPr>
          <p:cNvPr id="11" name="Text 9"/>
          <p:cNvSpPr/>
          <p:nvPr/>
        </p:nvSpPr>
        <p:spPr>
          <a:xfrm>
            <a:off x="731520" y="2697480"/>
            <a:ext cx="3200400" cy="141732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Fastest. Best raw-text fidelity for most PDFs.</a:t>
            </a:r>
            <a:endParaRPr lang="en-US" sz="1200" dirty="0"/>
          </a:p>
        </p:txBody>
      </p:sp>
      <p:sp>
        <p:nvSpPr>
          <p:cNvPr id="12" name="Text 10"/>
          <p:cNvSpPr/>
          <p:nvPr/>
        </p:nvSpPr>
        <p:spPr>
          <a:xfrm>
            <a:off x="731520" y="4160520"/>
            <a:ext cx="3200400" cy="228600"/>
          </a:xfrm>
          <a:prstGeom prst="rect">
            <a:avLst/>
          </a:prstGeom>
          <a:noFill/>
          <a:ln/>
        </p:spPr>
        <p:txBody>
          <a:bodyPr wrap="square" lIns="0" tIns="0" rIns="0" bIns="0" rtlCol="0" anchor="ctr"/>
          <a:lstStyle/>
          <a:p>
            <a:pPr marL="0" indent="0">
              <a:buNone/>
            </a:pPr>
            <a:r>
              <a:rPr lang="en-US" sz="900" b="1" kern="0" spc="200" dirty="0">
                <a:solidFill>
                  <a:srgbClr val="F97316"/>
                </a:solidFill>
                <a:latin typeface="Calibri" pitchFamily="34" charset="0"/>
                <a:ea typeface="Calibri" pitchFamily="34" charset="-122"/>
                <a:cs typeface="Calibri" pitchFamily="34" charset="-120"/>
              </a:rPr>
              <a:t>CONS</a:t>
            </a:r>
            <a:endParaRPr lang="en-US" sz="900" dirty="0"/>
          </a:p>
        </p:txBody>
      </p:sp>
      <p:sp>
        <p:nvSpPr>
          <p:cNvPr id="13" name="Text 11"/>
          <p:cNvSpPr/>
          <p:nvPr/>
        </p:nvSpPr>
        <p:spPr>
          <a:xfrm>
            <a:off x="731520" y="4389120"/>
            <a:ext cx="3200400" cy="169164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Reorders text in unpredictable ways for multi-column layouts. Inconsistent across the 26-year date range.</a:t>
            </a:r>
            <a:endParaRPr lang="en-US" sz="1200" dirty="0"/>
          </a:p>
        </p:txBody>
      </p:sp>
      <p:sp>
        <p:nvSpPr>
          <p:cNvPr id="14" name="Shape 12"/>
          <p:cNvSpPr/>
          <p:nvPr/>
        </p:nvSpPr>
        <p:spPr>
          <a:xfrm>
            <a:off x="4434840" y="1463040"/>
            <a:ext cx="3657600" cy="4663440"/>
          </a:xfrm>
          <a:prstGeom prst="rect">
            <a:avLst/>
          </a:prstGeom>
          <a:solidFill>
            <a:srgbClr val="FFFFFF"/>
          </a:solidFill>
          <a:ln w="25400">
            <a:solidFill>
              <a:srgbClr val="16A34A"/>
            </a:solidFill>
            <a:prstDash val="solid"/>
          </a:ln>
        </p:spPr>
        <p:txBody>
          <a:bodyPr/>
          <a:lstStyle/>
          <a:p>
            <a:endParaRPr lang="en-US"/>
          </a:p>
        </p:txBody>
      </p:sp>
      <p:sp>
        <p:nvSpPr>
          <p:cNvPr id="15" name="Shape 13"/>
          <p:cNvSpPr/>
          <p:nvPr/>
        </p:nvSpPr>
        <p:spPr>
          <a:xfrm>
            <a:off x="4434840" y="1463040"/>
            <a:ext cx="3657600" cy="73152"/>
          </a:xfrm>
          <a:prstGeom prst="rect">
            <a:avLst/>
          </a:prstGeom>
          <a:solidFill>
            <a:srgbClr val="16A34A"/>
          </a:solidFill>
          <a:ln w="12700">
            <a:solidFill>
              <a:srgbClr val="16A34A"/>
            </a:solidFill>
            <a:prstDash val="solid"/>
          </a:ln>
        </p:spPr>
        <p:txBody>
          <a:bodyPr/>
          <a:lstStyle/>
          <a:p>
            <a:endParaRPr lang="en-US"/>
          </a:p>
        </p:txBody>
      </p:sp>
      <p:sp>
        <p:nvSpPr>
          <p:cNvPr id="16" name="Text 14"/>
          <p:cNvSpPr/>
          <p:nvPr/>
        </p:nvSpPr>
        <p:spPr>
          <a:xfrm>
            <a:off x="4663440" y="1645920"/>
            <a:ext cx="3200400" cy="411480"/>
          </a:xfrm>
          <a:prstGeom prst="rect">
            <a:avLst/>
          </a:prstGeom>
          <a:noFill/>
          <a:ln/>
        </p:spPr>
        <p:txBody>
          <a:bodyPr wrap="square" lIns="0" tIns="0" rIns="0" bIns="0"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pdfplumber</a:t>
            </a:r>
            <a:endParaRPr lang="en-US" sz="1800" dirty="0"/>
          </a:p>
        </p:txBody>
      </p:sp>
      <p:sp>
        <p:nvSpPr>
          <p:cNvPr id="17" name="Text 15"/>
          <p:cNvSpPr/>
          <p:nvPr/>
        </p:nvSpPr>
        <p:spPr>
          <a:xfrm>
            <a:off x="4663440" y="2057400"/>
            <a:ext cx="3200400" cy="274320"/>
          </a:xfrm>
          <a:prstGeom prst="rect">
            <a:avLst/>
          </a:prstGeom>
          <a:noFill/>
          <a:ln/>
        </p:spPr>
        <p:txBody>
          <a:bodyPr wrap="square" lIns="0" tIns="0" rIns="0" bIns="0" rtlCol="0" anchor="ctr"/>
          <a:lstStyle/>
          <a:p>
            <a:pPr marL="0" indent="0">
              <a:buNone/>
            </a:pPr>
            <a:r>
              <a:rPr lang="en-US" sz="1000" b="1" kern="0" spc="300" dirty="0">
                <a:solidFill>
                  <a:srgbClr val="16A34A"/>
                </a:solidFill>
                <a:latin typeface="Calibri" pitchFamily="34" charset="0"/>
                <a:ea typeface="Calibri" pitchFamily="34" charset="-122"/>
                <a:cs typeface="Calibri" pitchFamily="34" charset="-120"/>
              </a:rPr>
              <a:t>CHOSEN</a:t>
            </a:r>
            <a:endParaRPr lang="en-US" sz="1000" dirty="0"/>
          </a:p>
        </p:txBody>
      </p:sp>
      <p:sp>
        <p:nvSpPr>
          <p:cNvPr id="18" name="Text 16"/>
          <p:cNvSpPr/>
          <p:nvPr/>
        </p:nvSpPr>
        <p:spPr>
          <a:xfrm>
            <a:off x="4663440" y="2468880"/>
            <a:ext cx="32004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PROS</a:t>
            </a:r>
            <a:endParaRPr lang="en-US" sz="900" dirty="0"/>
          </a:p>
        </p:txBody>
      </p:sp>
      <p:sp>
        <p:nvSpPr>
          <p:cNvPr id="19" name="Text 17"/>
          <p:cNvSpPr/>
          <p:nvPr/>
        </p:nvSpPr>
        <p:spPr>
          <a:xfrm>
            <a:off x="4663440" y="2697480"/>
            <a:ext cx="3200400" cy="141732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Predictable line-by-line emission. Stable across all 1,000 PDFs. Active project, well-documented quirks.</a:t>
            </a:r>
            <a:endParaRPr lang="en-US" sz="1200" dirty="0"/>
          </a:p>
        </p:txBody>
      </p:sp>
      <p:sp>
        <p:nvSpPr>
          <p:cNvPr id="20" name="Text 18"/>
          <p:cNvSpPr/>
          <p:nvPr/>
        </p:nvSpPr>
        <p:spPr>
          <a:xfrm>
            <a:off x="4663440" y="4160520"/>
            <a:ext cx="3200400" cy="228600"/>
          </a:xfrm>
          <a:prstGeom prst="rect">
            <a:avLst/>
          </a:prstGeom>
          <a:noFill/>
          <a:ln/>
        </p:spPr>
        <p:txBody>
          <a:bodyPr wrap="square" lIns="0" tIns="0" rIns="0" bIns="0" rtlCol="0" anchor="ctr"/>
          <a:lstStyle/>
          <a:p>
            <a:pPr marL="0" indent="0">
              <a:buNone/>
            </a:pPr>
            <a:r>
              <a:rPr lang="en-US" sz="900" b="1" kern="0" spc="200" dirty="0">
                <a:solidFill>
                  <a:srgbClr val="F97316"/>
                </a:solidFill>
                <a:latin typeface="Calibri" pitchFamily="34" charset="0"/>
                <a:ea typeface="Calibri" pitchFamily="34" charset="-122"/>
                <a:cs typeface="Calibri" pitchFamily="34" charset="-120"/>
              </a:rPr>
              <a:t>CONS</a:t>
            </a:r>
            <a:endParaRPr lang="en-US" sz="900" dirty="0"/>
          </a:p>
        </p:txBody>
      </p:sp>
      <p:sp>
        <p:nvSpPr>
          <p:cNvPr id="21" name="Text 19"/>
          <p:cNvSpPr/>
          <p:nvPr/>
        </p:nvSpPr>
        <p:spPr>
          <a:xfrm>
            <a:off x="4663440" y="4389120"/>
            <a:ext cx="3200400" cy="169164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Slower than PyMuPDF. Quirks like char-doubling on bold text — but they are deterministic, so they can be patched.</a:t>
            </a:r>
            <a:endParaRPr lang="en-US" sz="1200" dirty="0"/>
          </a:p>
        </p:txBody>
      </p:sp>
      <p:sp>
        <p:nvSpPr>
          <p:cNvPr id="22" name="Shape 20"/>
          <p:cNvSpPr/>
          <p:nvPr/>
        </p:nvSpPr>
        <p:spPr>
          <a:xfrm>
            <a:off x="8366760" y="1463040"/>
            <a:ext cx="3657600" cy="4663440"/>
          </a:xfrm>
          <a:prstGeom prst="rect">
            <a:avLst/>
          </a:prstGeom>
          <a:solidFill>
            <a:srgbClr val="FFFFFF"/>
          </a:solidFill>
          <a:ln w="12700">
            <a:solidFill>
              <a:srgbClr val="CBD5E1"/>
            </a:solidFill>
            <a:prstDash val="solid"/>
          </a:ln>
        </p:spPr>
        <p:txBody>
          <a:bodyPr/>
          <a:lstStyle/>
          <a:p>
            <a:endParaRPr lang="en-US"/>
          </a:p>
        </p:txBody>
      </p:sp>
      <p:sp>
        <p:nvSpPr>
          <p:cNvPr id="23" name="Text 21"/>
          <p:cNvSpPr/>
          <p:nvPr/>
        </p:nvSpPr>
        <p:spPr>
          <a:xfrm>
            <a:off x="8595360" y="1645920"/>
            <a:ext cx="3200400" cy="411480"/>
          </a:xfrm>
          <a:prstGeom prst="rect">
            <a:avLst/>
          </a:prstGeom>
          <a:noFill/>
          <a:ln/>
        </p:spPr>
        <p:txBody>
          <a:bodyPr wrap="square" lIns="0" tIns="0" rIns="0" bIns="0"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Tesseract OCR</a:t>
            </a:r>
            <a:endParaRPr lang="en-US" sz="1800" dirty="0"/>
          </a:p>
        </p:txBody>
      </p:sp>
      <p:sp>
        <p:nvSpPr>
          <p:cNvPr id="24" name="Text 22"/>
          <p:cNvSpPr/>
          <p:nvPr/>
        </p:nvSpPr>
        <p:spPr>
          <a:xfrm>
            <a:off x="8595360" y="2057400"/>
            <a:ext cx="3200400" cy="274320"/>
          </a:xfrm>
          <a:prstGeom prst="rect">
            <a:avLst/>
          </a:prstGeom>
          <a:noFill/>
          <a:ln/>
        </p:spPr>
        <p:txBody>
          <a:bodyPr wrap="square" lIns="0" tIns="0" rIns="0" bIns="0" rtlCol="0" anchor="ctr"/>
          <a:lstStyle/>
          <a:p>
            <a:pPr marL="0" indent="0">
              <a:buNone/>
            </a:pPr>
            <a:r>
              <a:rPr lang="en-US" sz="1000" b="1" kern="0" spc="300" dirty="0">
                <a:solidFill>
                  <a:srgbClr val="64748B"/>
                </a:solidFill>
                <a:latin typeface="Calibri" pitchFamily="34" charset="0"/>
                <a:ea typeface="Calibri" pitchFamily="34" charset="-122"/>
                <a:cs typeface="Calibri" pitchFamily="34" charset="-120"/>
              </a:rPr>
              <a:t>NOT NEEDED</a:t>
            </a:r>
            <a:endParaRPr lang="en-US" sz="1000" dirty="0"/>
          </a:p>
        </p:txBody>
      </p:sp>
      <p:sp>
        <p:nvSpPr>
          <p:cNvPr id="25" name="Text 23"/>
          <p:cNvSpPr/>
          <p:nvPr/>
        </p:nvSpPr>
        <p:spPr>
          <a:xfrm>
            <a:off x="8595360" y="2468880"/>
            <a:ext cx="32004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PROS</a:t>
            </a:r>
            <a:endParaRPr lang="en-US" sz="900" dirty="0"/>
          </a:p>
        </p:txBody>
      </p:sp>
      <p:sp>
        <p:nvSpPr>
          <p:cNvPr id="26" name="Text 24"/>
          <p:cNvSpPr/>
          <p:nvPr/>
        </p:nvSpPr>
        <p:spPr>
          <a:xfrm>
            <a:off x="8595360" y="2697480"/>
            <a:ext cx="3200400" cy="141732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Last resort if PDFs were image-only.</a:t>
            </a:r>
            <a:endParaRPr lang="en-US" sz="1200" dirty="0"/>
          </a:p>
        </p:txBody>
      </p:sp>
      <p:sp>
        <p:nvSpPr>
          <p:cNvPr id="27" name="Text 25"/>
          <p:cNvSpPr/>
          <p:nvPr/>
        </p:nvSpPr>
        <p:spPr>
          <a:xfrm>
            <a:off x="8595360" y="4160520"/>
            <a:ext cx="3200400" cy="228600"/>
          </a:xfrm>
          <a:prstGeom prst="rect">
            <a:avLst/>
          </a:prstGeom>
          <a:noFill/>
          <a:ln/>
        </p:spPr>
        <p:txBody>
          <a:bodyPr wrap="square" lIns="0" tIns="0" rIns="0" bIns="0" rtlCol="0" anchor="ctr"/>
          <a:lstStyle/>
          <a:p>
            <a:pPr marL="0" indent="0">
              <a:buNone/>
            </a:pPr>
            <a:r>
              <a:rPr lang="en-US" sz="900" b="1" kern="0" spc="200" dirty="0">
                <a:solidFill>
                  <a:srgbClr val="F97316"/>
                </a:solidFill>
                <a:latin typeface="Calibri" pitchFamily="34" charset="0"/>
                <a:ea typeface="Calibri" pitchFamily="34" charset="-122"/>
                <a:cs typeface="Calibri" pitchFamily="34" charset="-120"/>
              </a:rPr>
              <a:t>CONS</a:t>
            </a:r>
            <a:endParaRPr lang="en-US" sz="900" dirty="0"/>
          </a:p>
        </p:txBody>
      </p:sp>
      <p:sp>
        <p:nvSpPr>
          <p:cNvPr id="28" name="Text 26"/>
          <p:cNvSpPr/>
          <p:nvPr/>
        </p:nvSpPr>
        <p:spPr>
          <a:xfrm>
            <a:off x="8595360" y="4389120"/>
            <a:ext cx="3200400" cy="169164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All 1,000 PDFs are text-extractable. OCR adds an order of magnitude in noise and runtime for zero benefit here.</a:t>
            </a:r>
            <a:endParaRPr lang="en-US" sz="1200" dirty="0"/>
          </a:p>
        </p:txBody>
      </p:sp>
      <p:sp>
        <p:nvSpPr>
          <p:cNvPr id="29" name="Shape 27"/>
          <p:cNvSpPr/>
          <p:nvPr/>
        </p:nvSpPr>
        <p:spPr>
          <a:xfrm>
            <a:off x="502920" y="6263640"/>
            <a:ext cx="11155680" cy="228600"/>
          </a:xfrm>
          <a:prstGeom prst="rect">
            <a:avLst/>
          </a:prstGeom>
          <a:solidFill>
            <a:srgbClr val="21295C"/>
          </a:solidFill>
          <a:ln w="12700">
            <a:solidFill>
              <a:srgbClr val="21295C"/>
            </a:solidFill>
            <a:prstDash val="solid"/>
          </a:ln>
        </p:spPr>
        <p:txBody>
          <a:bodyPr/>
          <a:lstStyle/>
          <a:p>
            <a:endParaRPr lang="en-US"/>
          </a:p>
        </p:txBody>
      </p:sp>
      <p:sp>
        <p:nvSpPr>
          <p:cNvPr id="30" name="Text 28"/>
          <p:cNvSpPr/>
          <p:nvPr/>
        </p:nvSpPr>
        <p:spPr>
          <a:xfrm>
            <a:off x="777240" y="6272784"/>
            <a:ext cx="10607040" cy="210312"/>
          </a:xfrm>
          <a:prstGeom prst="rect">
            <a:avLst/>
          </a:prstGeom>
          <a:noFill/>
          <a:ln/>
        </p:spPr>
        <p:txBody>
          <a:bodyPr wrap="square" lIns="0" tIns="0" rIns="0" bIns="0" rtlCol="0" anchor="ctr"/>
          <a:lstStyle/>
          <a:p>
            <a:pPr marL="0" indent="0">
              <a:buNone/>
            </a:pPr>
            <a:r>
              <a:rPr lang="en-US" sz="1000" b="1" kern="0" spc="300" dirty="0">
                <a:solidFill>
                  <a:srgbClr val="F97316"/>
                </a:solidFill>
                <a:latin typeface="Calibri" pitchFamily="34" charset="0"/>
                <a:ea typeface="Calibri" pitchFamily="34" charset="-122"/>
                <a:cs typeface="Calibri" pitchFamily="34" charset="-120"/>
              </a:rPr>
              <a:t>PRINCIPLE  </a:t>
            </a:r>
            <a:r>
              <a:rPr lang="en-US" sz="1100" dirty="0">
                <a:solidFill>
                  <a:srgbClr val="FFFFFF"/>
                </a:solidFill>
                <a:latin typeface="Calibri" pitchFamily="34" charset="0"/>
                <a:ea typeface="Calibri" pitchFamily="34" charset="-122"/>
                <a:cs typeface="Calibri" pitchFamily="34" charset="-120"/>
              </a:rPr>
              <a:t>predictable wrong-ness beats fast unpredictable right-ness — quirks you can characterize, you can fix.</a:t>
            </a:r>
            <a:endParaRPr lang="en-US" sz="1000" dirty="0"/>
          </a:p>
        </p:txBody>
      </p:sp>
      <p:sp>
        <p:nvSpPr>
          <p:cNvPr id="31" name="Text 29"/>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Ayxan Muxtar  ·  eiLink RA-DS 2026</a:t>
            </a:r>
            <a:endParaRPr lang="en-US" sz="900" dirty="0"/>
          </a:p>
        </p:txBody>
      </p:sp>
      <p:sp>
        <p:nvSpPr>
          <p:cNvPr id="32" name="Text 30"/>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1C7293"/>
          </a:solidFill>
          <a:ln w="12700">
            <a:solidFill>
              <a:srgbClr val="1C7293"/>
            </a:solidFill>
            <a:prstDash val="solid"/>
          </a:ln>
        </p:spPr>
        <p:txBody>
          <a:bodyPr/>
          <a:lstStyle/>
          <a:p>
            <a:endParaRPr lang="en-US"/>
          </a:p>
        </p:txBody>
      </p:sp>
      <p:sp>
        <p:nvSpPr>
          <p:cNvPr id="3" name="Text 1"/>
          <p:cNvSpPr/>
          <p:nvPr/>
        </p:nvSpPr>
        <p:spPr>
          <a:xfrm>
            <a:off x="502920" y="228600"/>
            <a:ext cx="548640" cy="457200"/>
          </a:xfrm>
          <a:prstGeom prst="rect">
            <a:avLst/>
          </a:prstGeom>
          <a:noFill/>
          <a:ln/>
        </p:spPr>
        <p:txBody>
          <a:bodyPr wrap="square" lIns="0" tIns="0" rIns="0" bIns="0" rtlCol="0" anchor="ctr"/>
          <a:lstStyle/>
          <a:p>
            <a:pPr marL="0" indent="0">
              <a:buNone/>
            </a:pPr>
            <a:r>
              <a:rPr lang="en-US" sz="2800" b="1" dirty="0">
                <a:solidFill>
                  <a:srgbClr val="1C7293"/>
                </a:solidFill>
                <a:latin typeface="Calibri" pitchFamily="34" charset="0"/>
                <a:ea typeface="Calibri" pitchFamily="34" charset="-122"/>
                <a:cs typeface="Calibri" pitchFamily="34" charset="-120"/>
              </a:rPr>
              <a:t>04</a:t>
            </a:r>
            <a:endParaRPr lang="en-US" sz="2800" dirty="0"/>
          </a:p>
        </p:txBody>
      </p:sp>
      <p:sp>
        <p:nvSpPr>
          <p:cNvPr id="4" name="Text 2"/>
          <p:cNvSpPr/>
          <p:nvPr/>
        </p:nvSpPr>
        <p:spPr>
          <a:xfrm>
            <a:off x="1097280" y="228600"/>
            <a:ext cx="1060704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Six text quirks I had to characterize before parsing</a:t>
            </a:r>
            <a:endParaRPr lang="en-US" sz="2600" dirty="0"/>
          </a:p>
        </p:txBody>
      </p:sp>
      <p:sp>
        <p:nvSpPr>
          <p:cNvPr id="5" name="Text 3"/>
          <p:cNvSpPr/>
          <p:nvPr/>
        </p:nvSpPr>
        <p:spPr>
          <a:xfrm>
            <a:off x="1097280" y="713232"/>
            <a:ext cx="1060704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Each one was discovered the hard way</a:t>
            </a:r>
            <a:endParaRPr lang="en-US" sz="1300" dirty="0"/>
          </a:p>
        </p:txBody>
      </p:sp>
      <p:sp>
        <p:nvSpPr>
          <p:cNvPr id="6" name="Text 4"/>
          <p:cNvSpPr/>
          <p:nvPr/>
        </p:nvSpPr>
        <p:spPr>
          <a:xfrm>
            <a:off x="502920" y="1097280"/>
            <a:ext cx="11155680" cy="45720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Each row below was a separate bug. The fix order matters: char-doubling has to run BEFORE word-doubling, or the word collapser sees 'WW' as one word and skips it.</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55680" cy="4160520"/>
        </p:xfrm>
        <a:graphic>
          <a:graphicData uri="http://schemas.openxmlformats.org/drawingml/2006/table">
            <a:tbl>
              <a:tblPr/>
              <a:tblGrid>
                <a:gridCol w="4572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3749040">
                  <a:extLst>
                    <a:ext uri="{9D8B030D-6E8A-4147-A177-3AD203B41FA5}">
                      <a16:colId xmlns:a16="http://schemas.microsoft.com/office/drawing/2014/main" val="20003"/>
                    </a:ext>
                  </a:extLst>
                </a:gridCol>
              </a:tblGrid>
              <a:tr h="59436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Quirk</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How it manifested</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Fix strategy</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594360">
                <a:tc>
                  <a:txBody>
                    <a:bodyPr/>
                    <a:lstStyle/>
                    <a:p>
                      <a:pPr marL="0" indent="0" algn="ctr">
                        <a:buNone/>
                      </a:pPr>
                      <a:r>
                        <a:rPr lang="en-US" sz="1100" b="1" dirty="0">
                          <a:solidFill>
                            <a:srgbClr val="1C7293"/>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Char-doubled bold</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Bold rendered as duplicated chars: WWeellllbboorree → field-id was 100% NULL on first run</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Detect words where every consecutive char-pair is identical, collapse to half-length</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lgn="ctr">
                        <a:buNone/>
                      </a:pPr>
                      <a:r>
                        <a:rPr lang="en-US" sz="1100" b="1" dirty="0">
                          <a:solidFill>
                            <a:srgbClr val="1C729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Doubled-label headers</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Wellbore: Wellbore: appears in normalized text</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Run AFTER char-doubling fix; collapse repeated label tokens</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594360">
                <a:tc>
                  <a:txBody>
                    <a:bodyPr/>
                    <a:lstStyle/>
                    <a:p>
                      <a:pPr marL="0" indent="0" algn="ctr">
                        <a:buNone/>
                      </a:pPr>
                      <a:r>
                        <a:rPr lang="en-US" sz="1100" b="1" dirty="0">
                          <a:solidFill>
                            <a:srgbClr val="1C729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Two-column header layout</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'Wellbore type: Depth At Last Casing mTVD:' on one line — both labels, no value</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Parse line-by-line, find ALL labels per line, slice values BETWEEN consecutive labels</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594360">
                <a:tc>
                  <a:txBody>
                    <a:bodyPr/>
                    <a:lstStyle/>
                    <a:p>
                      <a:pPr marL="0" indent="0" algn="ctr">
                        <a:buNone/>
                      </a:pPr>
                      <a:r>
                        <a:rPr lang="en-US" sz="1100" b="1" dirty="0">
                          <a:solidFill>
                            <a:srgbClr val="1C7293"/>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Mid-cell line wraps</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Long remarks split mid-word: 'circ\nulating'</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Reflow operations: join lines that don't start with a new HH:MM timestamp</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594360">
                <a:tc>
                  <a:txBody>
                    <a:bodyPr/>
                    <a:lstStyle/>
                    <a:p>
                      <a:pPr marL="0" indent="0" algn="ctr">
                        <a:buNone/>
                      </a:pPr>
                      <a:r>
                        <a:rPr lang="en-US" sz="1100" b="1" dirty="0">
                          <a:solidFill>
                            <a:srgbClr val="1C7293"/>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Sentinel values</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-999.99 used in place of NULL in numeric fields</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Coerce to NULL during type conversion, before any arithmetic</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r h="594360">
                <a:tc>
                  <a:txBody>
                    <a:bodyPr/>
                    <a:lstStyle/>
                    <a:p>
                      <a:pPr marL="0" indent="0" algn="ctr">
                        <a:buNone/>
                      </a:pPr>
                      <a:r>
                        <a:rPr lang="en-US" sz="1100" b="1" dirty="0">
                          <a:solidFill>
                            <a:srgbClr val="1C7293"/>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Excel quote-escape (NDS events)</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26"""" (4+ double-quotes) for what should be 26"</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Collapse runs of 2+ quotes to a single quote at query-cleanup stage</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5"/>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Ayxan Muxtar  ·  eiLink RA-DS 2026</a:t>
            </a:r>
            <a:endParaRPr lang="en-US" sz="900" dirty="0"/>
          </a:p>
        </p:txBody>
      </p:sp>
      <p:sp>
        <p:nvSpPr>
          <p:cNvPr id="9" name="Text 6"/>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1C7293"/>
          </a:solidFill>
          <a:ln w="12700">
            <a:solidFill>
              <a:srgbClr val="1C7293"/>
            </a:solidFill>
            <a:prstDash val="solid"/>
          </a:ln>
        </p:spPr>
        <p:txBody>
          <a:bodyPr/>
          <a:lstStyle/>
          <a:p>
            <a:endParaRPr lang="en-US"/>
          </a:p>
        </p:txBody>
      </p:sp>
      <p:sp>
        <p:nvSpPr>
          <p:cNvPr id="3" name="Text 1"/>
          <p:cNvSpPr/>
          <p:nvPr/>
        </p:nvSpPr>
        <p:spPr>
          <a:xfrm>
            <a:off x="502920" y="228600"/>
            <a:ext cx="548640" cy="457200"/>
          </a:xfrm>
          <a:prstGeom prst="rect">
            <a:avLst/>
          </a:prstGeom>
          <a:noFill/>
          <a:ln/>
        </p:spPr>
        <p:txBody>
          <a:bodyPr wrap="square" lIns="0" tIns="0" rIns="0" bIns="0" rtlCol="0" anchor="ctr"/>
          <a:lstStyle/>
          <a:p>
            <a:pPr marL="0" indent="0">
              <a:buNone/>
            </a:pPr>
            <a:r>
              <a:rPr lang="en-US" sz="2800" b="1" dirty="0">
                <a:solidFill>
                  <a:srgbClr val="1C7293"/>
                </a:solidFill>
                <a:latin typeface="Calibri" pitchFamily="34" charset="0"/>
                <a:ea typeface="Calibri" pitchFamily="34" charset="-122"/>
                <a:cs typeface="Calibri" pitchFamily="34" charset="-120"/>
              </a:rPr>
              <a:t>05</a:t>
            </a:r>
            <a:endParaRPr lang="en-US" sz="2800" dirty="0"/>
          </a:p>
        </p:txBody>
      </p:sp>
      <p:sp>
        <p:nvSpPr>
          <p:cNvPr id="4" name="Text 2"/>
          <p:cNvSpPr/>
          <p:nvPr/>
        </p:nvSpPr>
        <p:spPr>
          <a:xfrm>
            <a:off x="1097280" y="228600"/>
            <a:ext cx="1060704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Story: the two-column header trap</a:t>
            </a:r>
            <a:endParaRPr lang="en-US" sz="2600" dirty="0"/>
          </a:p>
        </p:txBody>
      </p:sp>
      <p:sp>
        <p:nvSpPr>
          <p:cNvPr id="5" name="Text 3"/>
          <p:cNvSpPr/>
          <p:nvPr/>
        </p:nvSpPr>
        <p:spPr>
          <a:xfrm>
            <a:off x="1097280" y="713232"/>
            <a:ext cx="1060704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How I diagnosed and fixed the deepest parser bug</a:t>
            </a:r>
            <a:endParaRPr lang="en-US" sz="1300" dirty="0"/>
          </a:p>
        </p:txBody>
      </p:sp>
      <p:sp>
        <p:nvSpPr>
          <p:cNvPr id="6" name="Shape 4"/>
          <p:cNvSpPr/>
          <p:nvPr/>
        </p:nvSpPr>
        <p:spPr>
          <a:xfrm>
            <a:off x="502920" y="1188720"/>
            <a:ext cx="457200" cy="457200"/>
          </a:xfrm>
          <a:prstGeom prst="ellipse">
            <a:avLst/>
          </a:prstGeom>
          <a:solidFill>
            <a:srgbClr val="DC2626"/>
          </a:solidFill>
          <a:ln w="12700">
            <a:solidFill>
              <a:srgbClr val="DC2626"/>
            </a:solidFill>
            <a:prstDash val="solid"/>
          </a:ln>
        </p:spPr>
        <p:txBody>
          <a:bodyPr/>
          <a:lstStyle/>
          <a:p>
            <a:endParaRPr lang="en-US"/>
          </a:p>
        </p:txBody>
      </p:sp>
      <p:sp>
        <p:nvSpPr>
          <p:cNvPr id="7" name="Text 5"/>
          <p:cNvSpPr/>
          <p:nvPr/>
        </p:nvSpPr>
        <p:spPr>
          <a:xfrm>
            <a:off x="502920" y="11887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097280" y="1207008"/>
            <a:ext cx="10058400" cy="365760"/>
          </a:xfrm>
          <a:prstGeom prst="rect">
            <a:avLst/>
          </a:prstGeom>
          <a:noFill/>
          <a:ln/>
        </p:spPr>
        <p:txBody>
          <a:bodyPr wrap="square" lIns="0" tIns="0" rIns="0" bIns="0" rtlCol="0" anchor="ctr"/>
          <a:lstStyle/>
          <a:p>
            <a:pPr marL="0" indent="0">
              <a:buNone/>
            </a:pPr>
            <a:r>
              <a:rPr lang="en-US" sz="1300" b="1" kern="0" spc="200" dirty="0">
                <a:solidFill>
                  <a:srgbClr val="DC2626"/>
                </a:solidFill>
                <a:latin typeface="Calibri" pitchFamily="34" charset="0"/>
                <a:ea typeface="Calibri" pitchFamily="34" charset="-122"/>
                <a:cs typeface="Calibri" pitchFamily="34" charset="-120"/>
              </a:rPr>
              <a:t>OBSERVED  ·  the smoke test failed silently</a:t>
            </a:r>
            <a:endParaRPr lang="en-US" sz="1300" dirty="0"/>
          </a:p>
        </p:txBody>
      </p:sp>
      <p:sp>
        <p:nvSpPr>
          <p:cNvPr id="9" name="Text 7"/>
          <p:cNvSpPr/>
          <p:nvPr/>
        </p:nvSpPr>
        <p:spPr>
          <a:xfrm>
            <a:off x="1097280" y="1554480"/>
            <a:ext cx="10515600" cy="59436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After the first ingestion run, I queried the database and saw `wellbore_id IS NULL` and `period_start IS NULL` on every single report. The parser ran without errors. The DB had rows. Just no critical fields.</a:t>
            </a:r>
            <a:endParaRPr lang="en-US" sz="1200" dirty="0"/>
          </a:p>
        </p:txBody>
      </p:sp>
      <p:sp>
        <p:nvSpPr>
          <p:cNvPr id="10" name="Shape 8"/>
          <p:cNvSpPr/>
          <p:nvPr/>
        </p:nvSpPr>
        <p:spPr>
          <a:xfrm>
            <a:off x="502920" y="2331720"/>
            <a:ext cx="457200" cy="457200"/>
          </a:xfrm>
          <a:prstGeom prst="ellipse">
            <a:avLst/>
          </a:prstGeom>
          <a:solidFill>
            <a:srgbClr val="F97316"/>
          </a:solidFill>
          <a:ln w="12700">
            <a:solidFill>
              <a:srgbClr val="F97316"/>
            </a:solidFill>
            <a:prstDash val="solid"/>
          </a:ln>
        </p:spPr>
        <p:txBody>
          <a:bodyPr/>
          <a:lstStyle/>
          <a:p>
            <a:endParaRPr lang="en-US"/>
          </a:p>
        </p:txBody>
      </p:sp>
      <p:sp>
        <p:nvSpPr>
          <p:cNvPr id="11" name="Text 9"/>
          <p:cNvSpPr/>
          <p:nvPr/>
        </p:nvSpPr>
        <p:spPr>
          <a:xfrm>
            <a:off x="502920" y="23317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097280" y="2350008"/>
            <a:ext cx="10058400" cy="365760"/>
          </a:xfrm>
          <a:prstGeom prst="rect">
            <a:avLst/>
          </a:prstGeom>
          <a:noFill/>
          <a:ln/>
        </p:spPr>
        <p:txBody>
          <a:bodyPr wrap="square" lIns="0" tIns="0" rIns="0" bIns="0" rtlCol="0" anchor="ctr"/>
          <a:lstStyle/>
          <a:p>
            <a:pPr marL="0" indent="0">
              <a:buNone/>
            </a:pPr>
            <a:r>
              <a:rPr lang="en-US" sz="1300" b="1" kern="0" spc="200" dirty="0">
                <a:solidFill>
                  <a:srgbClr val="F97316"/>
                </a:solidFill>
                <a:latin typeface="Calibri" pitchFamily="34" charset="0"/>
                <a:ea typeface="Calibri" pitchFamily="34" charset="-122"/>
                <a:cs typeface="Calibri" pitchFamily="34" charset="-120"/>
              </a:rPr>
              <a:t>DIAGNOSED  ·  printed the raw extracted text</a:t>
            </a:r>
            <a:endParaRPr lang="en-US" sz="1300" dirty="0"/>
          </a:p>
        </p:txBody>
      </p:sp>
      <p:sp>
        <p:nvSpPr>
          <p:cNvPr id="13" name="Shape 11"/>
          <p:cNvSpPr/>
          <p:nvPr/>
        </p:nvSpPr>
        <p:spPr>
          <a:xfrm>
            <a:off x="1097280" y="2715768"/>
            <a:ext cx="10561320" cy="777240"/>
          </a:xfrm>
          <a:prstGeom prst="rect">
            <a:avLst/>
          </a:prstGeom>
          <a:solidFill>
            <a:srgbClr val="21295C"/>
          </a:solidFill>
          <a:ln w="12700">
            <a:solidFill>
              <a:srgbClr val="21295C"/>
            </a:solidFill>
            <a:prstDash val="solid"/>
          </a:ln>
        </p:spPr>
        <p:txBody>
          <a:bodyPr/>
          <a:lstStyle/>
          <a:p>
            <a:endParaRPr lang="en-US"/>
          </a:p>
        </p:txBody>
      </p:sp>
      <p:sp>
        <p:nvSpPr>
          <p:cNvPr id="14" name="Text 12"/>
          <p:cNvSpPr/>
          <p:nvPr/>
        </p:nvSpPr>
        <p:spPr>
          <a:xfrm>
            <a:off x="1280160" y="2761488"/>
            <a:ext cx="10241280" cy="685800"/>
          </a:xfrm>
          <a:prstGeom prst="rect">
            <a:avLst/>
          </a:prstGeom>
          <a:noFill/>
          <a:ln/>
        </p:spPr>
        <p:txBody>
          <a:bodyPr wrap="square" lIns="0" tIns="0" rIns="0" bIns="0" rtlCol="0" anchor="ctr"/>
          <a:lstStyle/>
          <a:p>
            <a:pPr marL="0" indent="0">
              <a:buNone/>
            </a:pPr>
            <a:r>
              <a:rPr lang="en-US" sz="1100" dirty="0">
                <a:solidFill>
                  <a:srgbClr val="E6F1F7"/>
                </a:solidFill>
                <a:latin typeface="Courier New" pitchFamily="34" charset="0"/>
                <a:ea typeface="Courier New" pitchFamily="34" charset="-122"/>
                <a:cs typeface="Courier New" pitchFamily="34" charset="-120"/>
              </a:rPr>
              <a:t>Wellbore: 15/9-F-12 Period: 2007-12-31 00:00 - 2008-01-01 00:00</a:t>
            </a:r>
            <a:endParaRPr lang="en-US" sz="1100" dirty="0"/>
          </a:p>
          <a:p>
            <a:pPr marL="0" indent="0">
              <a:buNone/>
            </a:pPr>
            <a:r>
              <a:rPr lang="en-US" sz="1100" dirty="0">
                <a:solidFill>
                  <a:srgbClr val="E6F1F7"/>
                </a:solidFill>
                <a:latin typeface="Courier New" pitchFamily="34" charset="0"/>
                <a:ea typeface="Courier New" pitchFamily="34" charset="-122"/>
                <a:cs typeface="Courier New" pitchFamily="34" charset="-120"/>
              </a:rPr>
              <a:t>Status: normal Dist Drilled (m): -999.99 Depth at Kick Off mMD:</a:t>
            </a:r>
            <a:endParaRPr lang="en-US" sz="1100" dirty="0"/>
          </a:p>
        </p:txBody>
      </p:sp>
      <p:sp>
        <p:nvSpPr>
          <p:cNvPr id="15" name="Shape 13"/>
          <p:cNvSpPr/>
          <p:nvPr/>
        </p:nvSpPr>
        <p:spPr>
          <a:xfrm>
            <a:off x="502920" y="3611880"/>
            <a:ext cx="457200" cy="457200"/>
          </a:xfrm>
          <a:prstGeom prst="ellipse">
            <a:avLst/>
          </a:prstGeom>
          <a:solidFill>
            <a:srgbClr val="1C7293"/>
          </a:solidFill>
          <a:ln w="12700">
            <a:solidFill>
              <a:srgbClr val="1C7293"/>
            </a:solidFill>
            <a:prstDash val="solid"/>
          </a:ln>
        </p:spPr>
        <p:txBody>
          <a:bodyPr/>
          <a:lstStyle/>
          <a:p>
            <a:endParaRPr lang="en-US"/>
          </a:p>
        </p:txBody>
      </p:sp>
      <p:sp>
        <p:nvSpPr>
          <p:cNvPr id="16" name="Text 14"/>
          <p:cNvSpPr/>
          <p:nvPr/>
        </p:nvSpPr>
        <p:spPr>
          <a:xfrm>
            <a:off x="502920" y="36118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097280" y="3630168"/>
            <a:ext cx="10515600" cy="36576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ROOT CAUSE  ·  pdfplumber preserves visual order — the PDF has a 2-column header</a:t>
            </a:r>
            <a:endParaRPr lang="en-US" sz="1300" dirty="0"/>
          </a:p>
        </p:txBody>
      </p:sp>
      <p:sp>
        <p:nvSpPr>
          <p:cNvPr id="18" name="Text 16"/>
          <p:cNvSpPr/>
          <p:nvPr/>
        </p:nvSpPr>
        <p:spPr>
          <a:xfrm>
            <a:off x="1097280" y="3977640"/>
            <a:ext cx="10515600" cy="77724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Both columns get concatenated onto one line. My first regex looked for value text BETWEEN a label and the next known label — but on a two-column line, the next label is RIGHT NEXT to the first one. Capture group is empty. Field falls through to NULL.</a:t>
            </a:r>
            <a:endParaRPr lang="en-US" sz="1200" dirty="0"/>
          </a:p>
        </p:txBody>
      </p:sp>
      <p:sp>
        <p:nvSpPr>
          <p:cNvPr id="19" name="Shape 17"/>
          <p:cNvSpPr/>
          <p:nvPr/>
        </p:nvSpPr>
        <p:spPr>
          <a:xfrm>
            <a:off x="502920" y="4937760"/>
            <a:ext cx="457200" cy="457200"/>
          </a:xfrm>
          <a:prstGeom prst="ellipse">
            <a:avLst/>
          </a:prstGeom>
          <a:solidFill>
            <a:srgbClr val="16A34A"/>
          </a:solidFill>
          <a:ln w="12700">
            <a:solidFill>
              <a:srgbClr val="16A34A"/>
            </a:solidFill>
            <a:prstDash val="solid"/>
          </a:ln>
        </p:spPr>
        <p:txBody>
          <a:bodyPr/>
          <a:lstStyle/>
          <a:p>
            <a:endParaRPr lang="en-US"/>
          </a:p>
        </p:txBody>
      </p:sp>
      <p:sp>
        <p:nvSpPr>
          <p:cNvPr id="20" name="Text 18"/>
          <p:cNvSpPr/>
          <p:nvPr/>
        </p:nvSpPr>
        <p:spPr>
          <a:xfrm>
            <a:off x="502920" y="4937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097280" y="4956048"/>
            <a:ext cx="10515600" cy="365760"/>
          </a:xfrm>
          <a:prstGeom prst="rect">
            <a:avLst/>
          </a:prstGeom>
          <a:noFill/>
          <a:ln/>
        </p:spPr>
        <p:txBody>
          <a:bodyPr wrap="square" lIns="0" tIns="0" rIns="0" bIns="0" rtlCol="0" anchor="ctr"/>
          <a:lstStyle/>
          <a:p>
            <a:pPr marL="0" indent="0">
              <a:buNone/>
            </a:pPr>
            <a:r>
              <a:rPr lang="en-US" sz="1300" b="1" kern="0" spc="200" dirty="0">
                <a:solidFill>
                  <a:srgbClr val="16A34A"/>
                </a:solidFill>
                <a:latin typeface="Calibri" pitchFamily="34" charset="0"/>
                <a:ea typeface="Calibri" pitchFamily="34" charset="-122"/>
                <a:cs typeface="Calibri" pitchFamily="34" charset="-120"/>
              </a:rPr>
              <a:t>FIXED  ·  parse line-by-line, find ALL labels per line, slice values between them</a:t>
            </a:r>
            <a:endParaRPr lang="en-US" sz="1300" dirty="0"/>
          </a:p>
        </p:txBody>
      </p:sp>
      <p:sp>
        <p:nvSpPr>
          <p:cNvPr id="22" name="Text 20"/>
          <p:cNvSpPr/>
          <p:nvPr/>
        </p:nvSpPr>
        <p:spPr>
          <a:xfrm>
            <a:off x="1097280" y="5312851"/>
            <a:ext cx="10515600" cy="105156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Walk header line by line. Scan every line for every known label. The value of label[i] is exactly the text between end-of-label[i] and start-of-label[i+1]. Adds a final pass to strip dangling label-prefix tokens (e.g. 'Mærsk Contractors Depth' → 'Mærsk Contractors').</a:t>
            </a:r>
            <a:endParaRPr lang="en-US" sz="1200" dirty="0"/>
          </a:p>
        </p:txBody>
      </p:sp>
      <p:sp>
        <p:nvSpPr>
          <p:cNvPr id="23" name="Text 21"/>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Ayxan Muxtar  ·  eiLink RA-DS 2026</a:t>
            </a:r>
            <a:endParaRPr lang="en-US" sz="900" dirty="0"/>
          </a:p>
        </p:txBody>
      </p:sp>
      <p:sp>
        <p:nvSpPr>
          <p:cNvPr id="24" name="Text 22"/>
          <p:cNvSpPr/>
          <p:nvPr/>
        </p:nvSpPr>
        <p:spPr>
          <a:xfrm>
            <a:off x="10972800" y="6565953"/>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640080" y="2743200"/>
            <a:ext cx="109728" cy="1554480"/>
          </a:xfrm>
          <a:prstGeom prst="rect">
            <a:avLst/>
          </a:prstGeom>
          <a:solidFill>
            <a:srgbClr val="F97316"/>
          </a:solidFill>
          <a:ln w="12700">
            <a:solidFill>
              <a:srgbClr val="F97316"/>
            </a:solidFill>
            <a:prstDash val="solid"/>
          </a:ln>
        </p:spPr>
        <p:txBody>
          <a:bodyPr/>
          <a:lstStyle/>
          <a:p>
            <a:endParaRPr lang="en-US"/>
          </a:p>
        </p:txBody>
      </p:sp>
      <p:sp>
        <p:nvSpPr>
          <p:cNvPr id="3" name="Text 1"/>
          <p:cNvSpPr/>
          <p:nvPr/>
        </p:nvSpPr>
        <p:spPr>
          <a:xfrm>
            <a:off x="914400" y="2743200"/>
            <a:ext cx="10058400" cy="320040"/>
          </a:xfrm>
          <a:prstGeom prst="rect">
            <a:avLst/>
          </a:prstGeom>
          <a:noFill/>
          <a:ln/>
        </p:spPr>
        <p:txBody>
          <a:bodyPr wrap="square" lIns="0" tIns="0" rIns="0" bIns="0" rtlCol="0" anchor="ctr"/>
          <a:lstStyle/>
          <a:p>
            <a:pPr marL="0" indent="0">
              <a:buNone/>
            </a:pPr>
            <a:r>
              <a:rPr lang="en-US" sz="1400" b="1" kern="0" spc="600" dirty="0">
                <a:solidFill>
                  <a:srgbClr val="F97316"/>
                </a:solidFill>
                <a:latin typeface="Calibri" pitchFamily="34" charset="0"/>
                <a:ea typeface="Calibri" pitchFamily="34" charset="-122"/>
                <a:cs typeface="Calibri" pitchFamily="34" charset="-120"/>
              </a:rPr>
              <a:t>TASK 2  ·  MATCHING</a:t>
            </a:r>
            <a:endParaRPr lang="en-US" sz="1400" dirty="0"/>
          </a:p>
        </p:txBody>
      </p:sp>
      <p:sp>
        <p:nvSpPr>
          <p:cNvPr id="4" name="Text 2"/>
          <p:cNvSpPr/>
          <p:nvPr/>
        </p:nvSpPr>
        <p:spPr>
          <a:xfrm>
            <a:off x="914400" y="3154680"/>
            <a:ext cx="10972800" cy="11887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Why four methods, when the brief asked for two</a:t>
            </a:r>
            <a:endParaRPr lang="en-US" sz="3600" dirty="0"/>
          </a:p>
        </p:txBody>
      </p:sp>
      <p:sp>
        <p:nvSpPr>
          <p:cNvPr id="5" name="Text 3"/>
          <p:cNvSpPr/>
          <p:nvPr/>
        </p:nvSpPr>
        <p:spPr>
          <a:xfrm>
            <a:off x="914400" y="4572000"/>
            <a:ext cx="10972800" cy="914400"/>
          </a:xfrm>
          <a:prstGeom prst="rect">
            <a:avLst/>
          </a:prstGeom>
          <a:noFill/>
          <a:ln/>
        </p:spPr>
        <p:txBody>
          <a:bodyPr wrap="square" lIns="0" tIns="0" rIns="0" bIns="0" rtlCol="0" anchor="ctr"/>
          <a:lstStyle/>
          <a:p>
            <a:pPr marL="0" indent="0">
              <a:buNone/>
            </a:pPr>
            <a:r>
              <a:rPr lang="en-US" sz="1400" i="1" dirty="0">
                <a:solidFill>
                  <a:srgbClr val="E6F1F7"/>
                </a:solidFill>
                <a:latin typeface="Calibri" pitchFamily="34" charset="0"/>
                <a:ea typeface="Calibri" pitchFamily="34" charset="-122"/>
                <a:cs typeface="Calibri" pitchFamily="34" charset="-120"/>
              </a:rPr>
              <a:t>The brief lists TF-IDF and SBERT as examples. I built four because each fixes a specific failure mode of the previous one — and the differences are themselves a result.</a:t>
            </a:r>
            <a:endParaRPr lang="en-US" sz="1400" dirty="0"/>
          </a:p>
        </p:txBody>
      </p:sp>
      <p:sp>
        <p:nvSpPr>
          <p:cNvPr id="6" name="Text 4"/>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Ayxan Muxtar  ·  eiLink RA-DS 2026</a:t>
            </a:r>
            <a:endParaRPr lang="en-US" sz="900" dirty="0"/>
          </a:p>
        </p:txBody>
      </p:sp>
      <p:sp>
        <p:nvSpPr>
          <p:cNvPr id="7" name="Text 5"/>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1C7293"/>
          </a:solidFill>
          <a:ln w="12700">
            <a:solidFill>
              <a:srgbClr val="1C7293"/>
            </a:solidFill>
            <a:prstDash val="solid"/>
          </a:ln>
        </p:spPr>
        <p:txBody>
          <a:bodyPr/>
          <a:lstStyle/>
          <a:p>
            <a:endParaRPr lang="en-US"/>
          </a:p>
        </p:txBody>
      </p:sp>
      <p:sp>
        <p:nvSpPr>
          <p:cNvPr id="3" name="Text 1"/>
          <p:cNvSpPr/>
          <p:nvPr/>
        </p:nvSpPr>
        <p:spPr>
          <a:xfrm>
            <a:off x="502920" y="228600"/>
            <a:ext cx="548640" cy="457200"/>
          </a:xfrm>
          <a:prstGeom prst="rect">
            <a:avLst/>
          </a:prstGeom>
          <a:noFill/>
          <a:ln/>
        </p:spPr>
        <p:txBody>
          <a:bodyPr wrap="square" lIns="0" tIns="0" rIns="0" bIns="0" rtlCol="0" anchor="ctr"/>
          <a:lstStyle/>
          <a:p>
            <a:pPr marL="0" indent="0">
              <a:buNone/>
            </a:pPr>
            <a:r>
              <a:rPr lang="en-US" sz="2800" b="1" dirty="0">
                <a:solidFill>
                  <a:srgbClr val="1C7293"/>
                </a:solidFill>
                <a:latin typeface="Calibri" pitchFamily="34" charset="0"/>
                <a:ea typeface="Calibri" pitchFamily="34" charset="-122"/>
                <a:cs typeface="Calibri" pitchFamily="34" charset="-120"/>
              </a:rPr>
              <a:t>07</a:t>
            </a:r>
            <a:endParaRPr lang="en-US" sz="2800" dirty="0"/>
          </a:p>
        </p:txBody>
      </p:sp>
      <p:sp>
        <p:nvSpPr>
          <p:cNvPr id="4" name="Text 2"/>
          <p:cNvSpPr/>
          <p:nvPr/>
        </p:nvSpPr>
        <p:spPr>
          <a:xfrm>
            <a:off x="1097280" y="228600"/>
            <a:ext cx="1060704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Method 1: TF-IDF</a:t>
            </a:r>
            <a:endParaRPr lang="en-US" sz="2600" dirty="0"/>
          </a:p>
        </p:txBody>
      </p:sp>
      <p:sp>
        <p:nvSpPr>
          <p:cNvPr id="5" name="Text 3"/>
          <p:cNvSpPr/>
          <p:nvPr/>
        </p:nvSpPr>
        <p:spPr>
          <a:xfrm>
            <a:off x="1097280" y="713232"/>
            <a:ext cx="1060704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Why I started here, and the case where it provably fails</a:t>
            </a:r>
            <a:endParaRPr lang="en-US" sz="1300" dirty="0"/>
          </a:p>
        </p:txBody>
      </p:sp>
      <p:sp>
        <p:nvSpPr>
          <p:cNvPr id="6" name="Shape 4"/>
          <p:cNvSpPr/>
          <p:nvPr/>
        </p:nvSpPr>
        <p:spPr>
          <a:xfrm>
            <a:off x="502920" y="1143000"/>
            <a:ext cx="5486400" cy="2286000"/>
          </a:xfrm>
          <a:prstGeom prst="rect">
            <a:avLst/>
          </a:prstGeom>
          <a:solidFill>
            <a:srgbClr val="E6F1F7"/>
          </a:solidFill>
          <a:ln w="12700">
            <a:solidFill>
              <a:srgbClr val="E6F1F7"/>
            </a:solidFill>
            <a:prstDash val="solid"/>
          </a:ln>
        </p:spPr>
        <p:txBody>
          <a:bodyPr/>
          <a:lstStyle/>
          <a:p>
            <a:endParaRPr lang="en-US"/>
          </a:p>
        </p:txBody>
      </p:sp>
      <p:sp>
        <p:nvSpPr>
          <p:cNvPr id="7" name="Text 5"/>
          <p:cNvSpPr/>
          <p:nvPr/>
        </p:nvSpPr>
        <p:spPr>
          <a:xfrm>
            <a:off x="777240" y="1280160"/>
            <a:ext cx="4937760" cy="274320"/>
          </a:xfrm>
          <a:prstGeom prst="rect">
            <a:avLst/>
          </a:prstGeom>
          <a:noFill/>
          <a:ln/>
        </p:spPr>
        <p:txBody>
          <a:bodyPr wrap="square" lIns="0" tIns="0" rIns="0" bIns="0" rtlCol="0" anchor="ctr"/>
          <a:lstStyle/>
          <a:p>
            <a:pPr marL="0" indent="0">
              <a:buNone/>
            </a:pPr>
            <a:r>
              <a:rPr lang="en-US" sz="1100" b="1" kern="0" spc="300" dirty="0">
                <a:solidFill>
                  <a:srgbClr val="1C7293"/>
                </a:solidFill>
                <a:latin typeface="Calibri" pitchFamily="34" charset="0"/>
                <a:ea typeface="Calibri" pitchFamily="34" charset="-122"/>
                <a:cs typeface="Calibri" pitchFamily="34" charset="-120"/>
              </a:rPr>
              <a:t>WHY START WITH TF-IDF</a:t>
            </a:r>
            <a:endParaRPr lang="en-US" sz="1100" dirty="0"/>
          </a:p>
        </p:txBody>
      </p:sp>
      <p:sp>
        <p:nvSpPr>
          <p:cNvPr id="8" name="Text 6"/>
          <p:cNvSpPr/>
          <p:nvPr/>
        </p:nvSpPr>
        <p:spPr>
          <a:xfrm>
            <a:off x="777240" y="1645920"/>
            <a:ext cx="4937760" cy="1691640"/>
          </a:xfrm>
          <a:prstGeom prst="rect">
            <a:avLst/>
          </a:prstGeom>
          <a:noFill/>
          <a:ln/>
        </p:spPr>
        <p:txBody>
          <a:bodyPr wrap="square" lIns="0" tIns="0" rIns="0" bIns="0" rtlCol="0" anchor="t"/>
          <a:lstStyle/>
          <a:p>
            <a:pPr marL="0" indent="0">
              <a:spcAft>
                <a:spcPts val="800"/>
              </a:spcAft>
              <a:buNone/>
            </a:pPr>
            <a:r>
              <a:rPr lang="en-US" sz="1200" b="1" dirty="0">
                <a:solidFill>
                  <a:srgbClr val="1E293B"/>
                </a:solidFill>
                <a:latin typeface="Calibri" pitchFamily="34" charset="0"/>
                <a:ea typeface="Calibri" pitchFamily="34" charset="-122"/>
                <a:cs typeface="Calibri" pitchFamily="34" charset="-120"/>
              </a:rPr>
              <a:t>Drilling vocabulary is highly stylized. </a:t>
            </a:r>
            <a:r>
              <a:rPr lang="en-US" sz="1200" dirty="0">
                <a:solidFill>
                  <a:srgbClr val="1E293B"/>
                </a:solidFill>
                <a:latin typeface="Calibri" pitchFamily="34" charset="0"/>
                <a:ea typeface="Calibri" pitchFamily="34" charset="-122"/>
                <a:cs typeface="Calibri" pitchFamily="34" charset="-120"/>
              </a:rPr>
              <a:t>Phrases like "POOH 26\" BHA" are the technical fingerprint of an event — exact tokens carry signal.</a:t>
            </a:r>
            <a:endParaRPr lang="en-US" sz="1200" dirty="0"/>
          </a:p>
          <a:p>
            <a:pPr marL="0" indent="0">
              <a:spcAft>
                <a:spcPts val="800"/>
              </a:spcAft>
              <a:buNone/>
            </a:pPr>
            <a:r>
              <a:rPr lang="en-US" sz="1200" b="1" dirty="0">
                <a:solidFill>
                  <a:srgbClr val="1E293B"/>
                </a:solidFill>
                <a:latin typeface="Calibri" pitchFamily="34" charset="0"/>
                <a:ea typeface="Calibri" pitchFamily="34" charset="-122"/>
                <a:cs typeface="Calibri" pitchFamily="34" charset="-120"/>
              </a:rPr>
              <a:t>Cheap, deterministic, no GPU. </a:t>
            </a:r>
            <a:r>
              <a:rPr lang="en-US" sz="1200" dirty="0">
                <a:solidFill>
                  <a:srgbClr val="1E293B"/>
                </a:solidFill>
                <a:latin typeface="Calibri" pitchFamily="34" charset="0"/>
                <a:ea typeface="Calibri" pitchFamily="34" charset="-122"/>
                <a:cs typeface="Calibri" pitchFamily="34" charset="-120"/>
              </a:rPr>
              <a:t>Sets a floor for any other method to beat. If a fancy model can't beat TF-IDF, something is wrong.</a:t>
            </a:r>
            <a:endParaRPr lang="en-US" sz="1200" dirty="0"/>
          </a:p>
        </p:txBody>
      </p:sp>
      <p:sp>
        <p:nvSpPr>
          <p:cNvPr id="9" name="Shape 7"/>
          <p:cNvSpPr/>
          <p:nvPr/>
        </p:nvSpPr>
        <p:spPr>
          <a:xfrm>
            <a:off x="6172200" y="1143000"/>
            <a:ext cx="5486400" cy="2286000"/>
          </a:xfrm>
          <a:prstGeom prst="rect">
            <a:avLst/>
          </a:prstGeom>
          <a:solidFill>
            <a:srgbClr val="FFFFFF"/>
          </a:solidFill>
          <a:ln w="12700">
            <a:solidFill>
              <a:srgbClr val="DC2626"/>
            </a:solidFill>
            <a:prstDash val="solid"/>
          </a:ln>
        </p:spPr>
        <p:txBody>
          <a:bodyPr/>
          <a:lstStyle/>
          <a:p>
            <a:endParaRPr lang="en-US"/>
          </a:p>
        </p:txBody>
      </p:sp>
      <p:sp>
        <p:nvSpPr>
          <p:cNvPr id="10" name="Text 8"/>
          <p:cNvSpPr/>
          <p:nvPr/>
        </p:nvSpPr>
        <p:spPr>
          <a:xfrm>
            <a:off x="6446520" y="1280160"/>
            <a:ext cx="4937760" cy="274320"/>
          </a:xfrm>
          <a:prstGeom prst="rect">
            <a:avLst/>
          </a:prstGeom>
          <a:noFill/>
          <a:ln/>
        </p:spPr>
        <p:txBody>
          <a:bodyPr wrap="square" lIns="0" tIns="0" rIns="0" bIns="0" rtlCol="0" anchor="ctr"/>
          <a:lstStyle/>
          <a:p>
            <a:pPr marL="0" indent="0">
              <a:buNone/>
            </a:pPr>
            <a:r>
              <a:rPr lang="en-US" sz="1100" b="1" kern="0" spc="300" dirty="0">
                <a:solidFill>
                  <a:srgbClr val="DC2626"/>
                </a:solidFill>
                <a:latin typeface="Calibri" pitchFamily="34" charset="0"/>
                <a:ea typeface="Calibri" pitchFamily="34" charset="-122"/>
                <a:cs typeface="Calibri" pitchFamily="34" charset="-120"/>
              </a:rPr>
              <a:t>WHERE IT FAILS</a:t>
            </a:r>
            <a:endParaRPr lang="en-US" sz="1100" dirty="0"/>
          </a:p>
        </p:txBody>
      </p:sp>
      <p:sp>
        <p:nvSpPr>
          <p:cNvPr id="11" name="Text 9"/>
          <p:cNvSpPr/>
          <p:nvPr/>
        </p:nvSpPr>
        <p:spPr>
          <a:xfrm>
            <a:off x="6446520" y="1645920"/>
            <a:ext cx="4937760" cy="1691640"/>
          </a:xfrm>
          <a:prstGeom prst="rect">
            <a:avLst/>
          </a:prstGeom>
          <a:noFill/>
          <a:ln/>
        </p:spPr>
        <p:txBody>
          <a:bodyPr wrap="square" lIns="0" tIns="0" rIns="0" bIns="0" rtlCol="0" anchor="t"/>
          <a:lstStyle/>
          <a:p>
            <a:pPr marL="0" indent="0">
              <a:spcAft>
                <a:spcPts val="800"/>
              </a:spcAft>
              <a:buNone/>
            </a:pPr>
            <a:r>
              <a:rPr lang="en-US" sz="1200" b="1" dirty="0">
                <a:solidFill>
                  <a:srgbClr val="1E293B"/>
                </a:solidFill>
                <a:latin typeface="Calibri" pitchFamily="34" charset="0"/>
                <a:ea typeface="Calibri" pitchFamily="34" charset="-122"/>
                <a:cs typeface="Calibri" pitchFamily="34" charset="-120"/>
              </a:rPr>
              <a:t>Synonyms are invisible. </a:t>
            </a:r>
            <a:r>
              <a:rPr lang="en-US" sz="1200" dirty="0">
                <a:solidFill>
                  <a:srgbClr val="1E293B"/>
                </a:solidFill>
                <a:latin typeface="Calibri" pitchFamily="34" charset="0"/>
                <a:ea typeface="Calibri" pitchFamily="34" charset="-122"/>
                <a:cs typeface="Calibri" pitchFamily="34" charset="-120"/>
              </a:rPr>
              <a:t>Query says 'POOH', remark says 'pull out of hole' — TF-IDF treats them as unrelated.</a:t>
            </a:r>
            <a:endParaRPr lang="en-US" sz="1200" dirty="0"/>
          </a:p>
          <a:p>
            <a:pPr marL="0" indent="0">
              <a:spcAft>
                <a:spcPts val="800"/>
              </a:spcAft>
              <a:buNone/>
            </a:pPr>
            <a:r>
              <a:rPr lang="en-US" sz="1200" b="1" dirty="0">
                <a:solidFill>
                  <a:srgbClr val="1E293B"/>
                </a:solidFill>
                <a:latin typeface="Calibri" pitchFamily="34" charset="0"/>
                <a:ea typeface="Calibri" pitchFamily="34" charset="-122"/>
                <a:cs typeface="Calibri" pitchFamily="34" charset="-120"/>
              </a:rPr>
              <a:t>Word order is ignored. </a:t>
            </a:r>
            <a:r>
              <a:rPr lang="en-US" sz="1200" dirty="0">
                <a:solidFill>
                  <a:srgbClr val="1E293B"/>
                </a:solidFill>
                <a:latin typeface="Calibri" pitchFamily="34" charset="0"/>
                <a:ea typeface="Calibri" pitchFamily="34" charset="-122"/>
                <a:cs typeface="Calibri" pitchFamily="34" charset="-120"/>
              </a:rPr>
              <a:t>'BHA stuck in hole' and 'hole stuck in BHA' have identical scores.</a:t>
            </a:r>
            <a:endParaRPr lang="en-US" sz="1200" dirty="0"/>
          </a:p>
        </p:txBody>
      </p:sp>
      <p:sp>
        <p:nvSpPr>
          <p:cNvPr id="12" name="Text 10"/>
          <p:cNvSpPr/>
          <p:nvPr/>
        </p:nvSpPr>
        <p:spPr>
          <a:xfrm>
            <a:off x="502920" y="3657600"/>
            <a:ext cx="10972800" cy="274320"/>
          </a:xfrm>
          <a:prstGeom prst="rect">
            <a:avLst/>
          </a:prstGeom>
          <a:noFill/>
          <a:ln/>
        </p:spPr>
        <p:txBody>
          <a:bodyPr wrap="square" lIns="0" tIns="0" rIns="0" bIns="0" rtlCol="0" anchor="ctr"/>
          <a:lstStyle/>
          <a:p>
            <a:pPr marL="0" indent="0">
              <a:buNone/>
            </a:pPr>
            <a:r>
              <a:rPr lang="en-US" sz="1100" b="1" kern="0" spc="300" dirty="0">
                <a:solidFill>
                  <a:srgbClr val="1C7293"/>
                </a:solidFill>
                <a:latin typeface="Calibri" pitchFamily="34" charset="0"/>
                <a:ea typeface="Calibri" pitchFamily="34" charset="-122"/>
                <a:cs typeface="Calibri" pitchFamily="34" charset="-120"/>
              </a:rPr>
              <a:t>CONCRETE FAILURE: NDS Event 3 (F-12)</a:t>
            </a:r>
            <a:endParaRPr lang="en-US" sz="1100" dirty="0"/>
          </a:p>
        </p:txBody>
      </p:sp>
      <p:sp>
        <p:nvSpPr>
          <p:cNvPr id="13" name="Shape 11"/>
          <p:cNvSpPr/>
          <p:nvPr/>
        </p:nvSpPr>
        <p:spPr>
          <a:xfrm>
            <a:off x="502920" y="3931920"/>
            <a:ext cx="11155680" cy="1280160"/>
          </a:xfrm>
          <a:prstGeom prst="rect">
            <a:avLst/>
          </a:prstGeom>
          <a:solidFill>
            <a:srgbClr val="21295C"/>
          </a:solidFill>
          <a:ln w="12700">
            <a:solidFill>
              <a:srgbClr val="21295C"/>
            </a:solidFill>
            <a:prstDash val="solid"/>
          </a:ln>
        </p:spPr>
        <p:txBody>
          <a:bodyPr/>
          <a:lstStyle/>
          <a:p>
            <a:endParaRPr lang="en-US"/>
          </a:p>
        </p:txBody>
      </p:sp>
      <p:sp>
        <p:nvSpPr>
          <p:cNvPr id="14" name="Text 12"/>
          <p:cNvSpPr/>
          <p:nvPr/>
        </p:nvSpPr>
        <p:spPr>
          <a:xfrm>
            <a:off x="777240" y="4023360"/>
            <a:ext cx="10698480" cy="32004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Query:  "Excessive clay accumulation observed in BHA while POOH 26" BHA"</a:t>
            </a:r>
            <a:endParaRPr lang="en-US" sz="1300" dirty="0"/>
          </a:p>
        </p:txBody>
      </p:sp>
      <p:sp>
        <p:nvSpPr>
          <p:cNvPr id="15" name="Text 13"/>
          <p:cNvSpPr/>
          <p:nvPr/>
        </p:nvSpPr>
        <p:spPr>
          <a:xfrm>
            <a:off x="777240" y="4343400"/>
            <a:ext cx="10698480" cy="320040"/>
          </a:xfrm>
          <a:prstGeom prst="rect">
            <a:avLst/>
          </a:prstGeom>
          <a:noFill/>
          <a:ln/>
        </p:spPr>
        <p:txBody>
          <a:bodyPr wrap="square" lIns="0" tIns="0" rIns="0" bIns="0" rtlCol="0" anchor="ctr"/>
          <a:lstStyle/>
          <a:p>
            <a:pPr marL="0" indent="0">
              <a:buNone/>
            </a:pPr>
            <a:r>
              <a:rPr lang="en-US" sz="1300" dirty="0">
                <a:solidFill>
                  <a:srgbClr val="E6F1F7"/>
                </a:solidFill>
                <a:latin typeface="Calibri" pitchFamily="34" charset="0"/>
                <a:ea typeface="Calibri" pitchFamily="34" charset="-122"/>
                <a:cs typeface="Calibri" pitchFamily="34" charset="-120"/>
              </a:rPr>
              <a:t>TF-IDF top-1:  15_9_F_12_2010-09-24.pdf  ·  score 0.358</a:t>
            </a:r>
            <a:endParaRPr lang="en-US" sz="1300" dirty="0"/>
          </a:p>
        </p:txBody>
      </p:sp>
      <p:sp>
        <p:nvSpPr>
          <p:cNvPr id="16" name="Text 14"/>
          <p:cNvSpPr/>
          <p:nvPr/>
        </p:nvSpPr>
        <p:spPr>
          <a:xfrm>
            <a:off x="777240" y="4663440"/>
            <a:ext cx="10698480" cy="502920"/>
          </a:xfrm>
          <a:prstGeom prst="rect">
            <a:avLst/>
          </a:prstGeom>
          <a:noFill/>
          <a:ln/>
        </p:spPr>
        <p:txBody>
          <a:bodyPr wrap="square" lIns="0" tIns="0" rIns="0" bIns="0" rtlCol="0" anchor="ctr"/>
          <a:lstStyle/>
          <a:p>
            <a:pPr marL="0" indent="0">
              <a:buNone/>
            </a:pPr>
            <a:r>
              <a:rPr lang="en-US" sz="1200" i="1" dirty="0">
                <a:solidFill>
                  <a:srgbClr val="E6F1F7"/>
                </a:solidFill>
                <a:latin typeface="Calibri" pitchFamily="34" charset="0"/>
                <a:ea typeface="Calibri" pitchFamily="34" charset="-122"/>
                <a:cs typeface="Calibri" pitchFamily="34" charset="-120"/>
              </a:rPr>
              <a:t>Why wrong:  this PDF has lots of "BHA" mentions but no POOH-26-clay event. TF-IDF found high token overlap on common words and missed the actual event.</a:t>
            </a:r>
            <a:endParaRPr lang="en-US" sz="1200" dirty="0"/>
          </a:p>
        </p:txBody>
      </p:sp>
      <p:sp>
        <p:nvSpPr>
          <p:cNvPr id="17" name="Text 15"/>
          <p:cNvSpPr/>
          <p:nvPr/>
        </p:nvSpPr>
        <p:spPr>
          <a:xfrm>
            <a:off x="502920" y="5486400"/>
            <a:ext cx="11155680" cy="64008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This was the trigger for adding a semantic method. Before reaching for SBERT, I first ruled out a simpler fix: bidirectional abbreviation expansion (slide 9).</a:t>
            </a:r>
            <a:endParaRPr lang="en-US" sz="1200" dirty="0"/>
          </a:p>
        </p:txBody>
      </p:sp>
      <p:sp>
        <p:nvSpPr>
          <p:cNvPr id="18" name="Text 16"/>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Ayxan Muxtar  ·  eiLink RA-DS 2026</a:t>
            </a:r>
            <a:endParaRPr lang="en-US" sz="900" dirty="0"/>
          </a:p>
        </p:txBody>
      </p:sp>
      <p:sp>
        <p:nvSpPr>
          <p:cNvPr id="19" name="Text 17"/>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1C7293"/>
          </a:solidFill>
          <a:ln w="12700">
            <a:solidFill>
              <a:srgbClr val="1C7293"/>
            </a:solidFill>
            <a:prstDash val="solid"/>
          </a:ln>
        </p:spPr>
        <p:txBody>
          <a:bodyPr/>
          <a:lstStyle/>
          <a:p>
            <a:endParaRPr lang="en-US"/>
          </a:p>
        </p:txBody>
      </p:sp>
      <p:sp>
        <p:nvSpPr>
          <p:cNvPr id="3" name="Text 1"/>
          <p:cNvSpPr/>
          <p:nvPr/>
        </p:nvSpPr>
        <p:spPr>
          <a:xfrm>
            <a:off x="502920" y="228600"/>
            <a:ext cx="548640" cy="457200"/>
          </a:xfrm>
          <a:prstGeom prst="rect">
            <a:avLst/>
          </a:prstGeom>
          <a:noFill/>
          <a:ln/>
        </p:spPr>
        <p:txBody>
          <a:bodyPr wrap="square" lIns="0" tIns="0" rIns="0" bIns="0" rtlCol="0" anchor="ctr"/>
          <a:lstStyle/>
          <a:p>
            <a:pPr marL="0" indent="0">
              <a:buNone/>
            </a:pPr>
            <a:r>
              <a:rPr lang="en-US" sz="2800" b="1" dirty="0">
                <a:solidFill>
                  <a:srgbClr val="1C7293"/>
                </a:solidFill>
                <a:latin typeface="Calibri" pitchFamily="34" charset="0"/>
                <a:ea typeface="Calibri" pitchFamily="34" charset="-122"/>
                <a:cs typeface="Calibri" pitchFamily="34" charset="-120"/>
              </a:rPr>
              <a:t>08</a:t>
            </a:r>
            <a:endParaRPr lang="en-US" sz="2800" dirty="0"/>
          </a:p>
        </p:txBody>
      </p:sp>
      <p:sp>
        <p:nvSpPr>
          <p:cNvPr id="4" name="Text 2"/>
          <p:cNvSpPr/>
          <p:nvPr/>
        </p:nvSpPr>
        <p:spPr>
          <a:xfrm>
            <a:off x="1097280" y="228600"/>
            <a:ext cx="1060704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Method 2: SBERT</a:t>
            </a:r>
            <a:endParaRPr lang="en-US" sz="2600" dirty="0"/>
          </a:p>
        </p:txBody>
      </p:sp>
      <p:sp>
        <p:nvSpPr>
          <p:cNvPr id="5" name="Text 3"/>
          <p:cNvSpPr/>
          <p:nvPr/>
        </p:nvSpPr>
        <p:spPr>
          <a:xfrm>
            <a:off x="1097280" y="713232"/>
            <a:ext cx="1060704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Semantic similarity — and a different kind of failure</a:t>
            </a:r>
            <a:endParaRPr lang="en-US" sz="1300" dirty="0"/>
          </a:p>
        </p:txBody>
      </p:sp>
      <p:sp>
        <p:nvSpPr>
          <p:cNvPr id="6" name="Shape 4"/>
          <p:cNvSpPr/>
          <p:nvPr/>
        </p:nvSpPr>
        <p:spPr>
          <a:xfrm>
            <a:off x="502920" y="1143000"/>
            <a:ext cx="5486400" cy="2286000"/>
          </a:xfrm>
          <a:prstGeom prst="rect">
            <a:avLst/>
          </a:prstGeom>
          <a:solidFill>
            <a:srgbClr val="E6F1F7"/>
          </a:solidFill>
          <a:ln w="12700">
            <a:solidFill>
              <a:srgbClr val="E6F1F7"/>
            </a:solidFill>
            <a:prstDash val="solid"/>
          </a:ln>
        </p:spPr>
        <p:txBody>
          <a:bodyPr/>
          <a:lstStyle/>
          <a:p>
            <a:endParaRPr lang="en-US"/>
          </a:p>
        </p:txBody>
      </p:sp>
      <p:sp>
        <p:nvSpPr>
          <p:cNvPr id="7" name="Text 5"/>
          <p:cNvSpPr/>
          <p:nvPr/>
        </p:nvSpPr>
        <p:spPr>
          <a:xfrm>
            <a:off x="777240" y="1280160"/>
            <a:ext cx="4937760" cy="274320"/>
          </a:xfrm>
          <a:prstGeom prst="rect">
            <a:avLst/>
          </a:prstGeom>
          <a:noFill/>
          <a:ln/>
        </p:spPr>
        <p:txBody>
          <a:bodyPr wrap="square" lIns="0" tIns="0" rIns="0" bIns="0" rtlCol="0" anchor="ctr"/>
          <a:lstStyle/>
          <a:p>
            <a:pPr marL="0" indent="0">
              <a:buNone/>
            </a:pPr>
            <a:r>
              <a:rPr lang="en-US" sz="1100" b="1" kern="0" spc="300" dirty="0">
                <a:solidFill>
                  <a:srgbClr val="1C7293"/>
                </a:solidFill>
                <a:latin typeface="Calibri" pitchFamily="34" charset="0"/>
                <a:ea typeface="Calibri" pitchFamily="34" charset="-122"/>
                <a:cs typeface="Calibri" pitchFamily="34" charset="-120"/>
              </a:rPr>
              <a:t>WHY ADD SBERT</a:t>
            </a:r>
            <a:endParaRPr lang="en-US" sz="1100" dirty="0"/>
          </a:p>
        </p:txBody>
      </p:sp>
      <p:sp>
        <p:nvSpPr>
          <p:cNvPr id="8" name="Text 6"/>
          <p:cNvSpPr/>
          <p:nvPr/>
        </p:nvSpPr>
        <p:spPr>
          <a:xfrm>
            <a:off x="777240" y="1645920"/>
            <a:ext cx="4937760" cy="1691640"/>
          </a:xfrm>
          <a:prstGeom prst="rect">
            <a:avLst/>
          </a:prstGeom>
          <a:noFill/>
          <a:ln/>
        </p:spPr>
        <p:txBody>
          <a:bodyPr wrap="square" lIns="0" tIns="0" rIns="0" bIns="0" rtlCol="0" anchor="t"/>
          <a:lstStyle/>
          <a:p>
            <a:pPr marL="0" indent="0">
              <a:spcAft>
                <a:spcPts val="800"/>
              </a:spcAft>
              <a:buNone/>
            </a:pPr>
            <a:r>
              <a:rPr lang="en-US" sz="1200" b="1" dirty="0">
                <a:solidFill>
                  <a:srgbClr val="1E293B"/>
                </a:solidFill>
                <a:latin typeface="Calibri" pitchFamily="34" charset="0"/>
                <a:ea typeface="Calibri" pitchFamily="34" charset="-122"/>
                <a:cs typeface="Calibri" pitchFamily="34" charset="-120"/>
              </a:rPr>
              <a:t>Captures synonyms automatically. </a:t>
            </a:r>
            <a:r>
              <a:rPr lang="en-US" sz="1200" dirty="0">
                <a:solidFill>
                  <a:srgbClr val="1E293B"/>
                </a:solidFill>
                <a:latin typeface="Calibri" pitchFamily="34" charset="0"/>
                <a:ea typeface="Calibri" pitchFamily="34" charset="-122"/>
                <a:cs typeface="Calibri" pitchFamily="34" charset="-120"/>
              </a:rPr>
              <a:t>POOH and 'pull out of hole' are nearby in embedding space — no manual dictionary needed.</a:t>
            </a:r>
            <a:endParaRPr lang="en-US" sz="1200" dirty="0"/>
          </a:p>
          <a:p>
            <a:pPr marL="0" indent="0">
              <a:spcAft>
                <a:spcPts val="800"/>
              </a:spcAft>
              <a:buNone/>
            </a:pPr>
            <a:r>
              <a:rPr lang="en-US" sz="1200" b="1" dirty="0">
                <a:solidFill>
                  <a:srgbClr val="1E293B"/>
                </a:solidFill>
                <a:latin typeface="Calibri" pitchFamily="34" charset="0"/>
                <a:ea typeface="Calibri" pitchFamily="34" charset="-122"/>
                <a:cs typeface="Calibri" pitchFamily="34" charset="-120"/>
              </a:rPr>
              <a:t>Off-the-shelf, no training. </a:t>
            </a:r>
            <a:r>
              <a:rPr lang="en-US" sz="1200" dirty="0">
                <a:solidFill>
                  <a:srgbClr val="1E293B"/>
                </a:solidFill>
                <a:latin typeface="Calibri" pitchFamily="34" charset="0"/>
                <a:ea typeface="Calibri" pitchFamily="34" charset="-122"/>
                <a:cs typeface="Calibri" pitchFamily="34" charset="-120"/>
              </a:rPr>
              <a:t>all-MiniLM-L6-v2: 80 MB, runs on a single GPU in seconds for 11k operations.</a:t>
            </a:r>
            <a:endParaRPr lang="en-US" sz="1200" dirty="0"/>
          </a:p>
        </p:txBody>
      </p:sp>
      <p:sp>
        <p:nvSpPr>
          <p:cNvPr id="9" name="Shape 7"/>
          <p:cNvSpPr/>
          <p:nvPr/>
        </p:nvSpPr>
        <p:spPr>
          <a:xfrm>
            <a:off x="6172200" y="1143000"/>
            <a:ext cx="5486400" cy="2286000"/>
          </a:xfrm>
          <a:prstGeom prst="rect">
            <a:avLst/>
          </a:prstGeom>
          <a:solidFill>
            <a:srgbClr val="FFFFFF"/>
          </a:solidFill>
          <a:ln w="12700">
            <a:solidFill>
              <a:srgbClr val="DC2626"/>
            </a:solidFill>
            <a:prstDash val="solid"/>
          </a:ln>
        </p:spPr>
        <p:txBody>
          <a:bodyPr/>
          <a:lstStyle/>
          <a:p>
            <a:endParaRPr lang="en-US"/>
          </a:p>
        </p:txBody>
      </p:sp>
      <p:sp>
        <p:nvSpPr>
          <p:cNvPr id="10" name="Text 8"/>
          <p:cNvSpPr/>
          <p:nvPr/>
        </p:nvSpPr>
        <p:spPr>
          <a:xfrm>
            <a:off x="6446520" y="1280160"/>
            <a:ext cx="4937760" cy="274320"/>
          </a:xfrm>
          <a:prstGeom prst="rect">
            <a:avLst/>
          </a:prstGeom>
          <a:noFill/>
          <a:ln/>
        </p:spPr>
        <p:txBody>
          <a:bodyPr wrap="square" lIns="0" tIns="0" rIns="0" bIns="0" rtlCol="0" anchor="ctr"/>
          <a:lstStyle/>
          <a:p>
            <a:pPr marL="0" indent="0">
              <a:buNone/>
            </a:pPr>
            <a:r>
              <a:rPr lang="en-US" sz="1100" b="1" kern="0" spc="300" dirty="0">
                <a:solidFill>
                  <a:srgbClr val="DC2626"/>
                </a:solidFill>
                <a:latin typeface="Calibri" pitchFamily="34" charset="0"/>
                <a:ea typeface="Calibri" pitchFamily="34" charset="-122"/>
                <a:cs typeface="Calibri" pitchFamily="34" charset="-120"/>
              </a:rPr>
              <a:t>WHERE IT FAILS</a:t>
            </a:r>
            <a:endParaRPr lang="en-US" sz="1100" dirty="0"/>
          </a:p>
        </p:txBody>
      </p:sp>
      <p:sp>
        <p:nvSpPr>
          <p:cNvPr id="11" name="Text 9"/>
          <p:cNvSpPr/>
          <p:nvPr/>
        </p:nvSpPr>
        <p:spPr>
          <a:xfrm>
            <a:off x="6446520" y="1645920"/>
            <a:ext cx="4937760" cy="1691640"/>
          </a:xfrm>
          <a:prstGeom prst="rect">
            <a:avLst/>
          </a:prstGeom>
          <a:noFill/>
          <a:ln/>
        </p:spPr>
        <p:txBody>
          <a:bodyPr wrap="square" lIns="0" tIns="0" rIns="0" bIns="0" rtlCol="0" anchor="t"/>
          <a:lstStyle/>
          <a:p>
            <a:pPr marL="0" indent="0">
              <a:spcAft>
                <a:spcPts val="800"/>
              </a:spcAft>
              <a:buNone/>
            </a:pPr>
            <a:r>
              <a:rPr lang="en-US" sz="1200" b="1" dirty="0">
                <a:solidFill>
                  <a:srgbClr val="1E293B"/>
                </a:solidFill>
                <a:latin typeface="Calibri" pitchFamily="34" charset="0"/>
                <a:ea typeface="Calibri" pitchFamily="34" charset="-122"/>
                <a:cs typeface="Calibri" pitchFamily="34" charset="-120"/>
              </a:rPr>
              <a:t>Smooths over crucial literals. </a:t>
            </a:r>
            <a:r>
              <a:rPr lang="en-US" sz="1200" dirty="0">
                <a:solidFill>
                  <a:srgbClr val="1E293B"/>
                </a:solidFill>
                <a:latin typeface="Calibri" pitchFamily="34" charset="0"/>
                <a:ea typeface="Calibri" pitchFamily="34" charset="-122"/>
                <a:cs typeface="Calibri" pitchFamily="34" charset="-120"/>
              </a:rPr>
              <a:t>26" and 17.5" are 'both bit sizes' to SBERT — but they identify different operations.</a:t>
            </a:r>
            <a:endParaRPr lang="en-US" sz="1200" dirty="0"/>
          </a:p>
          <a:p>
            <a:pPr marL="0" indent="0">
              <a:spcAft>
                <a:spcPts val="800"/>
              </a:spcAft>
              <a:buNone/>
            </a:pPr>
            <a:r>
              <a:rPr lang="en-US" sz="1200" b="1" dirty="0">
                <a:solidFill>
                  <a:srgbClr val="1E293B"/>
                </a:solidFill>
                <a:latin typeface="Calibri" pitchFamily="34" charset="0"/>
                <a:ea typeface="Calibri" pitchFamily="34" charset="-122"/>
                <a:cs typeface="Calibri" pitchFamily="34" charset="-120"/>
              </a:rPr>
              <a:t>General-purpose, not domain-trained. </a:t>
            </a:r>
            <a:r>
              <a:rPr lang="en-US" sz="1200" dirty="0">
                <a:solidFill>
                  <a:srgbClr val="1E293B"/>
                </a:solidFill>
                <a:latin typeface="Calibri" pitchFamily="34" charset="0"/>
                <a:ea typeface="Calibri" pitchFamily="34" charset="-122"/>
                <a:cs typeface="Calibri" pitchFamily="34" charset="-120"/>
              </a:rPr>
              <a:t>It was trained on the open web, not on drilling reports. Domain idioms get mapped to nearest neighbors that don't fit.</a:t>
            </a:r>
            <a:endParaRPr lang="en-US" sz="1200" dirty="0"/>
          </a:p>
        </p:txBody>
      </p:sp>
      <p:sp>
        <p:nvSpPr>
          <p:cNvPr id="12" name="Text 10"/>
          <p:cNvSpPr/>
          <p:nvPr/>
        </p:nvSpPr>
        <p:spPr>
          <a:xfrm>
            <a:off x="502920" y="3657600"/>
            <a:ext cx="10972800" cy="274320"/>
          </a:xfrm>
          <a:prstGeom prst="rect">
            <a:avLst/>
          </a:prstGeom>
          <a:noFill/>
          <a:ln/>
        </p:spPr>
        <p:txBody>
          <a:bodyPr wrap="square" lIns="0" tIns="0" rIns="0" bIns="0" rtlCol="0" anchor="ctr"/>
          <a:lstStyle/>
          <a:p>
            <a:pPr marL="0" indent="0">
              <a:buNone/>
            </a:pPr>
            <a:r>
              <a:rPr lang="en-US" sz="1100" b="1" kern="0" spc="300" dirty="0">
                <a:solidFill>
                  <a:srgbClr val="1C7293"/>
                </a:solidFill>
                <a:latin typeface="Calibri" pitchFamily="34" charset="0"/>
                <a:ea typeface="Calibri" pitchFamily="34" charset="-122"/>
                <a:cs typeface="Calibri" pitchFamily="34" charset="-120"/>
              </a:rPr>
              <a:t>CONCRETE FAILURE: same NDS Event 3 (F-12)</a:t>
            </a:r>
            <a:endParaRPr lang="en-US" sz="1100" dirty="0"/>
          </a:p>
        </p:txBody>
      </p:sp>
      <p:sp>
        <p:nvSpPr>
          <p:cNvPr id="13" name="Shape 11"/>
          <p:cNvSpPr/>
          <p:nvPr/>
        </p:nvSpPr>
        <p:spPr>
          <a:xfrm>
            <a:off x="502920" y="3931920"/>
            <a:ext cx="11155680" cy="1280160"/>
          </a:xfrm>
          <a:prstGeom prst="rect">
            <a:avLst/>
          </a:prstGeom>
          <a:solidFill>
            <a:srgbClr val="21295C"/>
          </a:solidFill>
          <a:ln w="12700">
            <a:solidFill>
              <a:srgbClr val="21295C"/>
            </a:solidFill>
            <a:prstDash val="solid"/>
          </a:ln>
        </p:spPr>
        <p:txBody>
          <a:bodyPr/>
          <a:lstStyle/>
          <a:p>
            <a:endParaRPr lang="en-US"/>
          </a:p>
        </p:txBody>
      </p:sp>
      <p:sp>
        <p:nvSpPr>
          <p:cNvPr id="14" name="Text 12"/>
          <p:cNvSpPr/>
          <p:nvPr/>
        </p:nvSpPr>
        <p:spPr>
          <a:xfrm>
            <a:off x="777240" y="4023360"/>
            <a:ext cx="10698480" cy="32004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Query:  "Excessive clay accumulation observed in BHA while POOH 26" BHA"</a:t>
            </a:r>
            <a:endParaRPr lang="en-US" sz="1300" dirty="0"/>
          </a:p>
        </p:txBody>
      </p:sp>
      <p:sp>
        <p:nvSpPr>
          <p:cNvPr id="15" name="Text 13"/>
          <p:cNvSpPr/>
          <p:nvPr/>
        </p:nvSpPr>
        <p:spPr>
          <a:xfrm>
            <a:off x="777240" y="4343400"/>
            <a:ext cx="10698480" cy="320040"/>
          </a:xfrm>
          <a:prstGeom prst="rect">
            <a:avLst/>
          </a:prstGeom>
          <a:noFill/>
          <a:ln/>
        </p:spPr>
        <p:txBody>
          <a:bodyPr wrap="square" lIns="0" tIns="0" rIns="0" bIns="0" rtlCol="0" anchor="ctr"/>
          <a:lstStyle/>
          <a:p>
            <a:pPr marL="0" indent="0">
              <a:buNone/>
            </a:pPr>
            <a:r>
              <a:rPr lang="en-US" sz="1300" dirty="0">
                <a:solidFill>
                  <a:srgbClr val="E6F1F7"/>
                </a:solidFill>
                <a:latin typeface="Calibri" pitchFamily="34" charset="0"/>
                <a:ea typeface="Calibri" pitchFamily="34" charset="-122"/>
                <a:cs typeface="Calibri" pitchFamily="34" charset="-120"/>
              </a:rPr>
              <a:t>SBERT top-1:  15_9_F_12_2007-07-23.pdf  ·  score 0.637  (much higher confidence than TF-IDF)</a:t>
            </a:r>
            <a:endParaRPr lang="en-US" sz="1300" dirty="0"/>
          </a:p>
        </p:txBody>
      </p:sp>
      <p:sp>
        <p:nvSpPr>
          <p:cNvPr id="16" name="Text 14"/>
          <p:cNvSpPr/>
          <p:nvPr/>
        </p:nvSpPr>
        <p:spPr>
          <a:xfrm>
            <a:off x="777240" y="4663440"/>
            <a:ext cx="10698480" cy="502920"/>
          </a:xfrm>
          <a:prstGeom prst="rect">
            <a:avLst/>
          </a:prstGeom>
          <a:noFill/>
          <a:ln/>
        </p:spPr>
        <p:txBody>
          <a:bodyPr wrap="square" lIns="0" tIns="0" rIns="0" bIns="0" rtlCol="0" anchor="ctr"/>
          <a:lstStyle/>
          <a:p>
            <a:pPr marL="0" indent="0">
              <a:buNone/>
            </a:pPr>
            <a:r>
              <a:rPr lang="en-US" sz="1200" i="1" dirty="0">
                <a:solidFill>
                  <a:srgbClr val="E6F1F7"/>
                </a:solidFill>
                <a:latin typeface="Calibri" pitchFamily="34" charset="0"/>
                <a:ea typeface="Calibri" pitchFamily="34" charset="-122"/>
                <a:cs typeface="Calibri" pitchFamily="34" charset="-120"/>
              </a:rPr>
              <a:t>Why wrong:  this PDF describes POOH with 17 1/2" BHA — the operation type matches, but the bit size does not. SBERT confidently mapped "26" BHA" to "POOH BHA" semantically and ignored the bit size.</a:t>
            </a:r>
            <a:endParaRPr lang="en-US" sz="1200" dirty="0"/>
          </a:p>
        </p:txBody>
      </p:sp>
      <p:sp>
        <p:nvSpPr>
          <p:cNvPr id="17" name="Shape 15"/>
          <p:cNvSpPr/>
          <p:nvPr/>
        </p:nvSpPr>
        <p:spPr>
          <a:xfrm>
            <a:off x="502920" y="5486400"/>
            <a:ext cx="11155680" cy="777240"/>
          </a:xfrm>
          <a:prstGeom prst="rect">
            <a:avLst/>
          </a:prstGeom>
          <a:solidFill>
            <a:srgbClr val="E6F1F7"/>
          </a:solidFill>
          <a:ln w="12700">
            <a:solidFill>
              <a:srgbClr val="E6F1F7"/>
            </a:solidFill>
            <a:prstDash val="solid"/>
          </a:ln>
        </p:spPr>
        <p:txBody>
          <a:bodyPr/>
          <a:lstStyle/>
          <a:p>
            <a:endParaRPr lang="en-US"/>
          </a:p>
        </p:txBody>
      </p:sp>
      <p:sp>
        <p:nvSpPr>
          <p:cNvPr id="18" name="Shape 16"/>
          <p:cNvSpPr/>
          <p:nvPr/>
        </p:nvSpPr>
        <p:spPr>
          <a:xfrm>
            <a:off x="502920" y="5486400"/>
            <a:ext cx="91440" cy="777240"/>
          </a:xfrm>
          <a:prstGeom prst="rect">
            <a:avLst/>
          </a:prstGeom>
          <a:solidFill>
            <a:srgbClr val="F97316"/>
          </a:solidFill>
          <a:ln w="12700">
            <a:solidFill>
              <a:srgbClr val="F97316"/>
            </a:solidFill>
            <a:prstDash val="solid"/>
          </a:ln>
        </p:spPr>
        <p:txBody>
          <a:bodyPr/>
          <a:lstStyle/>
          <a:p>
            <a:endParaRPr lang="en-US"/>
          </a:p>
        </p:txBody>
      </p:sp>
      <p:sp>
        <p:nvSpPr>
          <p:cNvPr id="19" name="Text 17"/>
          <p:cNvSpPr/>
          <p:nvPr/>
        </p:nvSpPr>
        <p:spPr>
          <a:xfrm>
            <a:off x="777240" y="5623560"/>
            <a:ext cx="1060704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TF-IDF and SBERT make different mistakes. That's a feature, not a bug — it lets us combine them.</a:t>
            </a:r>
            <a:endParaRPr lang="en-US" sz="1300" dirty="0"/>
          </a:p>
        </p:txBody>
      </p:sp>
      <p:sp>
        <p:nvSpPr>
          <p:cNvPr id="20" name="Text 18"/>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Ayxan Muxtar  ·  eiLink RA-DS 2026</a:t>
            </a:r>
            <a:endParaRPr lang="en-US" sz="900" dirty="0"/>
          </a:p>
        </p:txBody>
      </p:sp>
      <p:sp>
        <p:nvSpPr>
          <p:cNvPr id="21" name="Text 19"/>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1C7293"/>
          </a:solidFill>
          <a:ln w="12700">
            <a:solidFill>
              <a:srgbClr val="1C7293"/>
            </a:solidFill>
            <a:prstDash val="solid"/>
          </a:ln>
        </p:spPr>
        <p:txBody>
          <a:bodyPr/>
          <a:lstStyle/>
          <a:p>
            <a:endParaRPr lang="en-US"/>
          </a:p>
        </p:txBody>
      </p:sp>
      <p:sp>
        <p:nvSpPr>
          <p:cNvPr id="3" name="Text 1"/>
          <p:cNvSpPr/>
          <p:nvPr/>
        </p:nvSpPr>
        <p:spPr>
          <a:xfrm>
            <a:off x="502920" y="228600"/>
            <a:ext cx="548640" cy="457200"/>
          </a:xfrm>
          <a:prstGeom prst="rect">
            <a:avLst/>
          </a:prstGeom>
          <a:noFill/>
          <a:ln/>
        </p:spPr>
        <p:txBody>
          <a:bodyPr wrap="square" lIns="0" tIns="0" rIns="0" bIns="0" rtlCol="0" anchor="ctr"/>
          <a:lstStyle/>
          <a:p>
            <a:pPr marL="0" indent="0">
              <a:buNone/>
            </a:pPr>
            <a:r>
              <a:rPr lang="en-US" sz="2800" b="1" dirty="0">
                <a:solidFill>
                  <a:srgbClr val="1C7293"/>
                </a:solidFill>
                <a:latin typeface="Calibri" pitchFamily="34" charset="0"/>
                <a:ea typeface="Calibri" pitchFamily="34" charset="-122"/>
                <a:cs typeface="Calibri" pitchFamily="34" charset="-120"/>
              </a:rPr>
              <a:t>09</a:t>
            </a:r>
            <a:endParaRPr lang="en-US" sz="2800" dirty="0"/>
          </a:p>
        </p:txBody>
      </p:sp>
      <p:sp>
        <p:nvSpPr>
          <p:cNvPr id="4" name="Text 2"/>
          <p:cNvSpPr/>
          <p:nvPr/>
        </p:nvSpPr>
        <p:spPr>
          <a:xfrm>
            <a:off x="1097280" y="228600"/>
            <a:ext cx="1060704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Methods 3 &amp; 4: hybrid blend, then entity reranker</a:t>
            </a:r>
            <a:endParaRPr lang="en-US" sz="2600" dirty="0"/>
          </a:p>
        </p:txBody>
      </p:sp>
      <p:sp>
        <p:nvSpPr>
          <p:cNvPr id="5" name="Text 3"/>
          <p:cNvSpPr/>
          <p:nvPr/>
        </p:nvSpPr>
        <p:spPr>
          <a:xfrm>
            <a:off x="1097280" y="713232"/>
            <a:ext cx="1060704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Each one targets a specific failure mode I observed</a:t>
            </a:r>
            <a:endParaRPr lang="en-US" sz="1300" dirty="0"/>
          </a:p>
        </p:txBody>
      </p:sp>
      <p:sp>
        <p:nvSpPr>
          <p:cNvPr id="6" name="Text 4"/>
          <p:cNvSpPr/>
          <p:nvPr/>
        </p:nvSpPr>
        <p:spPr>
          <a:xfrm>
            <a:off x="502920" y="1143000"/>
            <a:ext cx="10972800" cy="274320"/>
          </a:xfrm>
          <a:prstGeom prst="rect">
            <a:avLst/>
          </a:prstGeom>
          <a:noFill/>
          <a:ln/>
        </p:spPr>
        <p:txBody>
          <a:bodyPr wrap="square" lIns="0" tIns="0" rIns="0" bIns="0" rtlCol="0" anchor="ctr"/>
          <a:lstStyle/>
          <a:p>
            <a:pPr marL="0" indent="0">
              <a:buNone/>
            </a:pPr>
            <a:r>
              <a:rPr lang="en-US" sz="1100" b="1" kern="0" spc="300" dirty="0">
                <a:solidFill>
                  <a:srgbClr val="1C7293"/>
                </a:solidFill>
                <a:latin typeface="Calibri" pitchFamily="34" charset="0"/>
                <a:ea typeface="Calibri" pitchFamily="34" charset="-122"/>
                <a:cs typeface="Calibri" pitchFamily="34" charset="-120"/>
              </a:rPr>
              <a:t>FIRST: PREPROCESSING (applied to corpus AND query)</a:t>
            </a:r>
            <a:endParaRPr lang="en-US" sz="1100" dirty="0"/>
          </a:p>
        </p:txBody>
      </p:sp>
      <p:sp>
        <p:nvSpPr>
          <p:cNvPr id="7" name="Shape 5"/>
          <p:cNvSpPr/>
          <p:nvPr/>
        </p:nvSpPr>
        <p:spPr>
          <a:xfrm>
            <a:off x="502920" y="1417320"/>
            <a:ext cx="11155680" cy="960120"/>
          </a:xfrm>
          <a:prstGeom prst="rect">
            <a:avLst/>
          </a:prstGeom>
          <a:solidFill>
            <a:srgbClr val="E6F1F7"/>
          </a:solidFill>
          <a:ln w="12700">
            <a:solidFill>
              <a:srgbClr val="E6F1F7"/>
            </a:solidFill>
            <a:prstDash val="solid"/>
          </a:ln>
        </p:spPr>
        <p:txBody>
          <a:bodyPr/>
          <a:lstStyle/>
          <a:p>
            <a:endParaRPr lang="en-US"/>
          </a:p>
        </p:txBody>
      </p:sp>
      <p:sp>
        <p:nvSpPr>
          <p:cNvPr id="8" name="Text 6"/>
          <p:cNvSpPr/>
          <p:nvPr/>
        </p:nvSpPr>
        <p:spPr>
          <a:xfrm>
            <a:off x="777240" y="1554480"/>
            <a:ext cx="10607040" cy="777240"/>
          </a:xfrm>
          <a:prstGeom prst="rect">
            <a:avLst/>
          </a:prstGeom>
          <a:noFill/>
          <a:ln/>
        </p:spPr>
        <p:txBody>
          <a:bodyPr wrap="square" lIns="0" tIns="0" rIns="0" bIns="0" rtlCol="0" anchor="t"/>
          <a:lstStyle/>
          <a:p>
            <a:pPr marL="0" indent="0">
              <a:spcAft>
                <a:spcPts val="400"/>
              </a:spcAft>
              <a:buNone/>
            </a:pPr>
            <a:r>
              <a:rPr lang="en-US" sz="1200" b="1" dirty="0">
                <a:solidFill>
                  <a:srgbClr val="1E293B"/>
                </a:solidFill>
                <a:latin typeface="Calibri" pitchFamily="34" charset="0"/>
                <a:ea typeface="Calibri" pitchFamily="34" charset="-122"/>
                <a:cs typeface="Calibri" pitchFamily="34" charset="-120"/>
              </a:rPr>
              <a:t>Bidirectional abbreviation dictionary  </a:t>
            </a:r>
            <a:r>
              <a:rPr lang="en-US" sz="1200" dirty="0">
                <a:solidFill>
                  <a:srgbClr val="1E293B"/>
                </a:solidFill>
                <a:latin typeface="Calibri" pitchFamily="34" charset="0"/>
                <a:ea typeface="Calibri" pitchFamily="34" charset="-122"/>
                <a:cs typeface="Calibri" pitchFamily="34" charset="-120"/>
              </a:rPr>
              <a:t>(60+ drilling terms): replace POOH with 'POOH (pull out of hole)' on both sides. Both forms appear in the bag of words — SBERT can match either, TF-IDF can match either.</a:t>
            </a:r>
            <a:endParaRPr lang="en-US" sz="1200" dirty="0"/>
          </a:p>
          <a:p>
            <a:pPr marL="0" indent="0">
              <a:spcAft>
                <a:spcPts val="400"/>
              </a:spcAft>
              <a:buNone/>
            </a:pPr>
            <a:r>
              <a:rPr lang="en-US" sz="1200" b="1" dirty="0">
                <a:solidFill>
                  <a:srgbClr val="1E293B"/>
                </a:solidFill>
                <a:latin typeface="Calibri" pitchFamily="34" charset="0"/>
                <a:ea typeface="Calibri" pitchFamily="34" charset="-122"/>
                <a:cs typeface="Calibri" pitchFamily="34" charset="-120"/>
              </a:rPr>
              <a:t>Query cleanup:  </a:t>
            </a:r>
            <a:r>
              <a:rPr lang="en-US" sz="1200" dirty="0">
                <a:solidFill>
                  <a:srgbClr val="1E293B"/>
                </a:solidFill>
                <a:latin typeface="Calibri" pitchFamily="34" charset="0"/>
                <a:ea typeface="Calibri" pitchFamily="34" charset="-122"/>
                <a:cs typeface="Calibri" pitchFamily="34" charset="-120"/>
              </a:rPr>
              <a:t>fix Excel quote noise (26"""" → 26"), known typos (ccumulation → accumulation), duplicate words (to to → to). Tiny scope, high yield.</a:t>
            </a:r>
            <a:endParaRPr lang="en-US" sz="1200" dirty="0"/>
          </a:p>
        </p:txBody>
      </p:sp>
      <p:sp>
        <p:nvSpPr>
          <p:cNvPr id="9" name="Shape 7"/>
          <p:cNvSpPr/>
          <p:nvPr/>
        </p:nvSpPr>
        <p:spPr>
          <a:xfrm>
            <a:off x="502920" y="2697480"/>
            <a:ext cx="5532120" cy="1828800"/>
          </a:xfrm>
          <a:prstGeom prst="rect">
            <a:avLst/>
          </a:prstGeom>
          <a:solidFill>
            <a:srgbClr val="FFFFFF"/>
          </a:solidFill>
          <a:ln w="12700">
            <a:solidFill>
              <a:srgbClr val="0EA5E9"/>
            </a:solidFill>
            <a:prstDash val="solid"/>
          </a:ln>
        </p:spPr>
        <p:txBody>
          <a:bodyPr/>
          <a:lstStyle/>
          <a:p>
            <a:endParaRPr lang="en-US"/>
          </a:p>
        </p:txBody>
      </p:sp>
      <p:sp>
        <p:nvSpPr>
          <p:cNvPr id="10" name="Shape 8"/>
          <p:cNvSpPr/>
          <p:nvPr/>
        </p:nvSpPr>
        <p:spPr>
          <a:xfrm>
            <a:off x="502920" y="2697480"/>
            <a:ext cx="5532120" cy="73152"/>
          </a:xfrm>
          <a:prstGeom prst="rect">
            <a:avLst/>
          </a:prstGeom>
          <a:solidFill>
            <a:srgbClr val="0EA5E9"/>
          </a:solidFill>
          <a:ln w="12700">
            <a:solidFill>
              <a:srgbClr val="0EA5E9"/>
            </a:solidFill>
            <a:prstDash val="solid"/>
          </a:ln>
        </p:spPr>
        <p:txBody>
          <a:bodyPr/>
          <a:lstStyle/>
          <a:p>
            <a:endParaRPr lang="en-US"/>
          </a:p>
        </p:txBody>
      </p:sp>
      <p:sp>
        <p:nvSpPr>
          <p:cNvPr id="11" name="Text 9"/>
          <p:cNvSpPr/>
          <p:nvPr/>
        </p:nvSpPr>
        <p:spPr>
          <a:xfrm>
            <a:off x="777240" y="2834640"/>
            <a:ext cx="5029200" cy="274320"/>
          </a:xfrm>
          <a:prstGeom prst="rect">
            <a:avLst/>
          </a:prstGeom>
          <a:noFill/>
          <a:ln/>
        </p:spPr>
        <p:txBody>
          <a:bodyPr wrap="square" lIns="0" tIns="0" rIns="0" bIns="0" rtlCol="0" anchor="ctr"/>
          <a:lstStyle/>
          <a:p>
            <a:pPr marL="0" indent="0">
              <a:buNone/>
            </a:pPr>
            <a:r>
              <a:rPr lang="en-US" sz="1100" b="1" kern="0" spc="300" dirty="0">
                <a:solidFill>
                  <a:srgbClr val="0EA5E9"/>
                </a:solidFill>
                <a:latin typeface="Calibri" pitchFamily="34" charset="0"/>
                <a:ea typeface="Calibri" pitchFamily="34" charset="-122"/>
                <a:cs typeface="Calibri" pitchFamily="34" charset="-120"/>
              </a:rPr>
              <a:t>METHOD 3 — HYBRID BLEND</a:t>
            </a:r>
            <a:endParaRPr lang="en-US" sz="1100" dirty="0"/>
          </a:p>
        </p:txBody>
      </p:sp>
      <p:sp>
        <p:nvSpPr>
          <p:cNvPr id="12" name="Text 10"/>
          <p:cNvSpPr/>
          <p:nvPr/>
        </p:nvSpPr>
        <p:spPr>
          <a:xfrm>
            <a:off x="777240" y="3108960"/>
            <a:ext cx="5120640" cy="365760"/>
          </a:xfrm>
          <a:prstGeom prst="rect">
            <a:avLst/>
          </a:prstGeom>
          <a:noFill/>
          <a:ln/>
        </p:spPr>
        <p:txBody>
          <a:bodyPr wrap="square" lIns="0" tIns="0" rIns="0" bIns="0" rtlCol="0" anchor="ctr"/>
          <a:lstStyle/>
          <a:p>
            <a:pPr marL="0" indent="0">
              <a:buNone/>
            </a:pPr>
            <a:r>
              <a:rPr lang="en-US" sz="1200" b="1" dirty="0">
                <a:solidFill>
                  <a:srgbClr val="1E293B"/>
                </a:solidFill>
                <a:latin typeface="Courier New" pitchFamily="34" charset="0"/>
                <a:ea typeface="Courier New" pitchFamily="34" charset="-122"/>
                <a:cs typeface="Courier New" pitchFamily="34" charset="-120"/>
              </a:rPr>
              <a:t>score = 0.5 × normalize(TF-IDF) + 0.5 × normalize(SBERT)</a:t>
            </a:r>
            <a:endParaRPr lang="en-US" sz="1200" dirty="0"/>
          </a:p>
        </p:txBody>
      </p:sp>
      <p:sp>
        <p:nvSpPr>
          <p:cNvPr id="13" name="Text 11"/>
          <p:cNvSpPr/>
          <p:nvPr/>
        </p:nvSpPr>
        <p:spPr>
          <a:xfrm>
            <a:off x="777240" y="3520440"/>
            <a:ext cx="5120640" cy="96012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Min-max normalize within the candidate pool first — TF-IDF cosines run 0.1-0.3, SBERT runs 0.3-0.7. Without normalization, SBERT dominates. After normalization, each method's strongest hit gets equal weight.</a:t>
            </a:r>
            <a:endParaRPr lang="en-US" sz="1100" dirty="0"/>
          </a:p>
        </p:txBody>
      </p:sp>
      <p:sp>
        <p:nvSpPr>
          <p:cNvPr id="14" name="Shape 12"/>
          <p:cNvSpPr/>
          <p:nvPr/>
        </p:nvSpPr>
        <p:spPr>
          <a:xfrm>
            <a:off x="6172200" y="2697480"/>
            <a:ext cx="5486400" cy="1828800"/>
          </a:xfrm>
          <a:prstGeom prst="rect">
            <a:avLst/>
          </a:prstGeom>
          <a:solidFill>
            <a:srgbClr val="FFFFFF"/>
          </a:solidFill>
          <a:ln w="12700">
            <a:solidFill>
              <a:srgbClr val="F97316"/>
            </a:solidFill>
            <a:prstDash val="solid"/>
          </a:ln>
        </p:spPr>
        <p:txBody>
          <a:bodyPr/>
          <a:lstStyle/>
          <a:p>
            <a:endParaRPr lang="en-US"/>
          </a:p>
        </p:txBody>
      </p:sp>
      <p:sp>
        <p:nvSpPr>
          <p:cNvPr id="15" name="Shape 13"/>
          <p:cNvSpPr/>
          <p:nvPr/>
        </p:nvSpPr>
        <p:spPr>
          <a:xfrm>
            <a:off x="6172200" y="2697480"/>
            <a:ext cx="5486400" cy="73152"/>
          </a:xfrm>
          <a:prstGeom prst="rect">
            <a:avLst/>
          </a:prstGeom>
          <a:solidFill>
            <a:srgbClr val="F97316"/>
          </a:solidFill>
          <a:ln w="12700">
            <a:solidFill>
              <a:srgbClr val="F97316"/>
            </a:solidFill>
            <a:prstDash val="solid"/>
          </a:ln>
        </p:spPr>
        <p:txBody>
          <a:bodyPr/>
          <a:lstStyle/>
          <a:p>
            <a:endParaRPr lang="en-US"/>
          </a:p>
        </p:txBody>
      </p:sp>
      <p:sp>
        <p:nvSpPr>
          <p:cNvPr id="16" name="Text 14"/>
          <p:cNvSpPr/>
          <p:nvPr/>
        </p:nvSpPr>
        <p:spPr>
          <a:xfrm>
            <a:off x="6446520" y="2834640"/>
            <a:ext cx="5029200" cy="274320"/>
          </a:xfrm>
          <a:prstGeom prst="rect">
            <a:avLst/>
          </a:prstGeom>
          <a:noFill/>
          <a:ln/>
        </p:spPr>
        <p:txBody>
          <a:bodyPr wrap="square" lIns="0" tIns="0" rIns="0" bIns="0" rtlCol="0" anchor="ctr"/>
          <a:lstStyle/>
          <a:p>
            <a:pPr marL="0" indent="0">
              <a:buNone/>
            </a:pPr>
            <a:r>
              <a:rPr lang="en-US" sz="1100" b="1" kern="0" spc="300" dirty="0">
                <a:solidFill>
                  <a:srgbClr val="F97316"/>
                </a:solidFill>
                <a:latin typeface="Calibri" pitchFamily="34" charset="0"/>
                <a:ea typeface="Calibri" pitchFamily="34" charset="-122"/>
                <a:cs typeface="Calibri" pitchFamily="34" charset="-120"/>
              </a:rPr>
              <a:t>METHOD 4 — ENTITY RERANKER</a:t>
            </a:r>
            <a:endParaRPr lang="en-US" sz="1100" dirty="0"/>
          </a:p>
        </p:txBody>
      </p:sp>
      <p:sp>
        <p:nvSpPr>
          <p:cNvPr id="17" name="Text 15"/>
          <p:cNvSpPr/>
          <p:nvPr/>
        </p:nvSpPr>
        <p:spPr>
          <a:xfrm>
            <a:off x="6446520" y="3108960"/>
            <a:ext cx="5120640" cy="365760"/>
          </a:xfrm>
          <a:prstGeom prst="rect">
            <a:avLst/>
          </a:prstGeom>
          <a:noFill/>
          <a:ln/>
        </p:spPr>
        <p:txBody>
          <a:bodyPr wrap="square" lIns="0" tIns="0" rIns="0" bIns="0" rtlCol="0" anchor="ctr"/>
          <a:lstStyle/>
          <a:p>
            <a:pPr marL="0" indent="0">
              <a:buNone/>
            </a:pPr>
            <a:r>
              <a:rPr lang="en-US" sz="1200" b="1" dirty="0">
                <a:solidFill>
                  <a:srgbClr val="1E293B"/>
                </a:solidFill>
                <a:latin typeface="Courier New" pitchFamily="34" charset="0"/>
                <a:ea typeface="Courier New" pitchFamily="34" charset="-122"/>
                <a:cs typeface="Courier New" pitchFamily="34" charset="-120"/>
              </a:rPr>
              <a:t>score = 0.7 × hybrid + 0.3 × entity_overlap</a:t>
            </a:r>
            <a:endParaRPr lang="en-US" sz="1200" dirty="0"/>
          </a:p>
        </p:txBody>
      </p:sp>
      <p:sp>
        <p:nvSpPr>
          <p:cNvPr id="18" name="Text 16"/>
          <p:cNvSpPr/>
          <p:nvPr/>
        </p:nvSpPr>
        <p:spPr>
          <a:xfrm>
            <a:off x="6446520" y="3520440"/>
            <a:ext cx="5120640" cy="96012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Entities = bit sizes, equipment terms, problem keywords, depths. The reranker boosts candidates that share these specific tokens with the query — directly counteracts SBERT's tendency to smooth over literals.</a:t>
            </a:r>
            <a:endParaRPr lang="en-US" sz="1100" dirty="0"/>
          </a:p>
        </p:txBody>
      </p:sp>
      <p:sp>
        <p:nvSpPr>
          <p:cNvPr id="19" name="Text 17"/>
          <p:cNvSpPr/>
          <p:nvPr/>
        </p:nvSpPr>
        <p:spPr>
          <a:xfrm>
            <a:off x="502920" y="4709160"/>
            <a:ext cx="10972800" cy="274320"/>
          </a:xfrm>
          <a:prstGeom prst="rect">
            <a:avLst/>
          </a:prstGeom>
          <a:noFill/>
          <a:ln/>
        </p:spPr>
        <p:txBody>
          <a:bodyPr wrap="square" lIns="0" tIns="0" rIns="0" bIns="0" rtlCol="0" anchor="ctr"/>
          <a:lstStyle/>
          <a:p>
            <a:pPr marL="0" indent="0">
              <a:buNone/>
            </a:pPr>
            <a:r>
              <a:rPr lang="en-US" sz="1100" b="1" kern="0" spc="300" dirty="0">
                <a:solidFill>
                  <a:srgbClr val="1C7293"/>
                </a:solidFill>
                <a:latin typeface="Calibri" pitchFamily="34" charset="0"/>
                <a:ea typeface="Calibri" pitchFamily="34" charset="-122"/>
                <a:cs typeface="Calibri" pitchFamily="34" charset="-120"/>
              </a:rPr>
              <a:t>WHAT I EXPECTED — AND WHY</a:t>
            </a:r>
            <a:endParaRPr lang="en-US" sz="1100" dirty="0"/>
          </a:p>
        </p:txBody>
      </p:sp>
      <p:sp>
        <p:nvSpPr>
          <p:cNvPr id="20" name="Shape 18"/>
          <p:cNvSpPr/>
          <p:nvPr/>
        </p:nvSpPr>
        <p:spPr>
          <a:xfrm>
            <a:off x="502920" y="4983480"/>
            <a:ext cx="11155680" cy="1280160"/>
          </a:xfrm>
          <a:prstGeom prst="rect">
            <a:avLst/>
          </a:prstGeom>
          <a:solidFill>
            <a:srgbClr val="E6F1F7"/>
          </a:solidFill>
          <a:ln w="12700">
            <a:solidFill>
              <a:srgbClr val="E6F1F7"/>
            </a:solidFill>
            <a:prstDash val="solid"/>
          </a:ln>
        </p:spPr>
        <p:txBody>
          <a:bodyPr/>
          <a:lstStyle/>
          <a:p>
            <a:endParaRPr lang="en-US"/>
          </a:p>
        </p:txBody>
      </p:sp>
      <p:sp>
        <p:nvSpPr>
          <p:cNvPr id="21" name="Text 19"/>
          <p:cNvSpPr/>
          <p:nvPr/>
        </p:nvSpPr>
        <p:spPr>
          <a:xfrm>
            <a:off x="777240" y="5120640"/>
            <a:ext cx="10607040" cy="1051560"/>
          </a:xfrm>
          <a:prstGeom prst="rect">
            <a:avLst/>
          </a:prstGeom>
          <a:noFill/>
          <a:ln/>
        </p:spPr>
        <p:txBody>
          <a:bodyPr wrap="square" lIns="0" tIns="0" rIns="0" bIns="0" rtlCol="0" anchor="t"/>
          <a:lstStyle/>
          <a:p>
            <a:pPr marL="0" indent="0">
              <a:spcAft>
                <a:spcPts val="400"/>
              </a:spcAft>
              <a:buNone/>
            </a:pPr>
            <a:r>
              <a:rPr lang="en-US" sz="1300" b="1" dirty="0">
                <a:solidFill>
                  <a:srgbClr val="1E293B"/>
                </a:solidFill>
                <a:latin typeface="Calibri" pitchFamily="34" charset="0"/>
                <a:ea typeface="Calibri" pitchFamily="34" charset="-122"/>
                <a:cs typeface="Calibri" pitchFamily="34" charset="-120"/>
              </a:rPr>
              <a:t>Hybrid should beat either method alone on average </a:t>
            </a:r>
            <a:r>
              <a:rPr lang="en-US" sz="1300" dirty="0">
                <a:solidFill>
                  <a:srgbClr val="1E293B"/>
                </a:solidFill>
                <a:latin typeface="Calibri" pitchFamily="34" charset="0"/>
                <a:ea typeface="Calibri" pitchFamily="34" charset="-122"/>
                <a:cs typeface="Calibri" pitchFamily="34" charset="-120"/>
              </a:rPr>
              <a:t>(method-disagreement is informative).</a:t>
            </a:r>
            <a:endParaRPr lang="en-US" sz="1300" dirty="0"/>
          </a:p>
          <a:p>
            <a:pPr marL="0" indent="0">
              <a:spcAft>
                <a:spcPts val="400"/>
              </a:spcAft>
              <a:buNone/>
            </a:pPr>
            <a:r>
              <a:rPr lang="en-US" sz="1300" b="1" dirty="0">
                <a:solidFill>
                  <a:srgbClr val="F97316"/>
                </a:solidFill>
                <a:latin typeface="Calibri" pitchFamily="34" charset="0"/>
                <a:ea typeface="Calibri" pitchFamily="34" charset="-122"/>
                <a:cs typeface="Calibri" pitchFamily="34" charset="-120"/>
              </a:rPr>
              <a:t>Reranker should specifically fix the F-12 case </a:t>
            </a:r>
            <a:r>
              <a:rPr lang="en-US" sz="1300" dirty="0">
                <a:solidFill>
                  <a:srgbClr val="1E293B"/>
                </a:solidFill>
                <a:latin typeface="Calibri" pitchFamily="34" charset="0"/>
                <a:ea typeface="Calibri" pitchFamily="34" charset="-122"/>
                <a:cs typeface="Calibri" pitchFamily="34" charset="-120"/>
              </a:rPr>
              <a:t>where the literal '26"' was the missing signal. If the design is right, the reranker will recover the true match.</a:t>
            </a:r>
            <a:endParaRPr lang="en-US" sz="1300" dirty="0"/>
          </a:p>
        </p:txBody>
      </p:sp>
      <p:sp>
        <p:nvSpPr>
          <p:cNvPr id="22" name="Text 20"/>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Ayxan Muxtar  ·  eiLink RA-DS 2026</a:t>
            </a:r>
            <a:endParaRPr lang="en-US" sz="900" dirty="0"/>
          </a:p>
        </p:txBody>
      </p:sp>
      <p:sp>
        <p:nvSpPr>
          <p:cNvPr id="23" name="Text 21"/>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1C7293"/>
          </a:solidFill>
          <a:ln w="12700">
            <a:solidFill>
              <a:srgbClr val="1C7293"/>
            </a:solidFill>
            <a:prstDash val="solid"/>
          </a:ln>
        </p:spPr>
        <p:txBody>
          <a:bodyPr/>
          <a:lstStyle/>
          <a:p>
            <a:endParaRPr lang="en-US"/>
          </a:p>
        </p:txBody>
      </p:sp>
      <p:sp>
        <p:nvSpPr>
          <p:cNvPr id="3" name="Text 1"/>
          <p:cNvSpPr/>
          <p:nvPr/>
        </p:nvSpPr>
        <p:spPr>
          <a:xfrm>
            <a:off x="502920" y="228600"/>
            <a:ext cx="548640" cy="457200"/>
          </a:xfrm>
          <a:prstGeom prst="rect">
            <a:avLst/>
          </a:prstGeom>
          <a:noFill/>
          <a:ln/>
        </p:spPr>
        <p:txBody>
          <a:bodyPr wrap="square" lIns="0" tIns="0" rIns="0" bIns="0" rtlCol="0" anchor="ctr"/>
          <a:lstStyle/>
          <a:p>
            <a:pPr marL="0" indent="0">
              <a:buNone/>
            </a:pPr>
            <a:r>
              <a:rPr lang="en-US" sz="2800" b="1" dirty="0">
                <a:solidFill>
                  <a:srgbClr val="1C7293"/>
                </a:solidFill>
                <a:latin typeface="Calibri" pitchFamily="34" charset="0"/>
                <a:ea typeface="Calibri" pitchFamily="34" charset="-122"/>
                <a:cs typeface="Calibri" pitchFamily="34" charset="-120"/>
              </a:rPr>
              <a:t>10</a:t>
            </a:r>
            <a:endParaRPr lang="en-US" sz="2800" dirty="0"/>
          </a:p>
        </p:txBody>
      </p:sp>
      <p:sp>
        <p:nvSpPr>
          <p:cNvPr id="4" name="Text 2"/>
          <p:cNvSpPr/>
          <p:nvPr/>
        </p:nvSpPr>
        <p:spPr>
          <a:xfrm>
            <a:off x="1097280" y="228600"/>
            <a:ext cx="1060704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Case study: did the reranker actually fix what we hypothesized?</a:t>
            </a:r>
            <a:endParaRPr lang="en-US" sz="2600" dirty="0"/>
          </a:p>
        </p:txBody>
      </p:sp>
      <p:sp>
        <p:nvSpPr>
          <p:cNvPr id="5" name="Text 3"/>
          <p:cNvSpPr/>
          <p:nvPr/>
        </p:nvSpPr>
        <p:spPr>
          <a:xfrm>
            <a:off x="1097280" y="713232"/>
            <a:ext cx="1060704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F-12 Event 3 — the test of the design</a:t>
            </a:r>
            <a:endParaRPr lang="en-US" sz="1300" dirty="0"/>
          </a:p>
        </p:txBody>
      </p:sp>
      <p:sp>
        <p:nvSpPr>
          <p:cNvPr id="6" name="Shape 4"/>
          <p:cNvSpPr/>
          <p:nvPr/>
        </p:nvSpPr>
        <p:spPr>
          <a:xfrm>
            <a:off x="502920" y="1143000"/>
            <a:ext cx="11155680" cy="731520"/>
          </a:xfrm>
          <a:prstGeom prst="rect">
            <a:avLst/>
          </a:prstGeom>
          <a:solidFill>
            <a:srgbClr val="21295C"/>
          </a:solidFill>
          <a:ln w="12700">
            <a:solidFill>
              <a:srgbClr val="21295C"/>
            </a:solidFill>
            <a:prstDash val="solid"/>
          </a:ln>
        </p:spPr>
        <p:txBody>
          <a:bodyPr/>
          <a:lstStyle/>
          <a:p>
            <a:endParaRPr lang="en-US"/>
          </a:p>
        </p:txBody>
      </p:sp>
      <p:sp>
        <p:nvSpPr>
          <p:cNvPr id="7" name="Text 5"/>
          <p:cNvSpPr/>
          <p:nvPr/>
        </p:nvSpPr>
        <p:spPr>
          <a:xfrm>
            <a:off x="777240" y="1207008"/>
            <a:ext cx="10698480" cy="274320"/>
          </a:xfrm>
          <a:prstGeom prst="rect">
            <a:avLst/>
          </a:prstGeom>
          <a:noFill/>
          <a:ln/>
        </p:spPr>
        <p:txBody>
          <a:bodyPr wrap="square" lIns="0" tIns="0" rIns="0" bIns="0" rtlCol="0" anchor="ctr"/>
          <a:lstStyle/>
          <a:p>
            <a:pPr marL="0" indent="0">
              <a:buNone/>
            </a:pPr>
            <a:r>
              <a:rPr lang="en-US" sz="1000" b="1" kern="0" spc="300" dirty="0">
                <a:solidFill>
                  <a:srgbClr val="F97316"/>
                </a:solidFill>
                <a:latin typeface="Calibri" pitchFamily="34" charset="0"/>
                <a:ea typeface="Calibri" pitchFamily="34" charset="-122"/>
                <a:cs typeface="Calibri" pitchFamily="34" charset="-120"/>
              </a:rPr>
              <a:t>THE QUERY (manually validated answer = POOH 26" BHA event from 2007-07-12)</a:t>
            </a:r>
            <a:endParaRPr lang="en-US" sz="1000" dirty="0"/>
          </a:p>
        </p:txBody>
      </p:sp>
      <p:sp>
        <p:nvSpPr>
          <p:cNvPr id="8" name="Text 6"/>
          <p:cNvSpPr/>
          <p:nvPr/>
        </p:nvSpPr>
        <p:spPr>
          <a:xfrm>
            <a:off x="777240" y="1463040"/>
            <a:ext cx="10698480" cy="365760"/>
          </a:xfrm>
          <a:prstGeom prst="rect">
            <a:avLst/>
          </a:prstGeom>
          <a:noFill/>
          <a:ln/>
        </p:spPr>
        <p:txBody>
          <a:bodyPr wrap="square" lIns="0" tIns="0" rIns="0" bIns="0" rtlCol="0" anchor="ctr"/>
          <a:lstStyle/>
          <a:p>
            <a:pPr marL="0" indent="0">
              <a:buNone/>
            </a:pPr>
            <a:r>
              <a:rPr lang="en-US" sz="1400" i="1" dirty="0">
                <a:solidFill>
                  <a:srgbClr val="FFFFFF"/>
                </a:solidFill>
                <a:latin typeface="Calibri" pitchFamily="34" charset="0"/>
                <a:ea typeface="Calibri" pitchFamily="34" charset="-122"/>
                <a:cs typeface="Calibri" pitchFamily="34" charset="-120"/>
              </a:rPr>
              <a:t>"Excessive clay amount ccumulation is observed in BHA while POOH 26"""" BHA"</a:t>
            </a:r>
            <a:endParaRPr lang="en-US" sz="1400" dirty="0"/>
          </a:p>
        </p:txBody>
      </p:sp>
      <p:sp>
        <p:nvSpPr>
          <p:cNvPr id="9" name="Shape 7"/>
          <p:cNvSpPr/>
          <p:nvPr/>
        </p:nvSpPr>
        <p:spPr>
          <a:xfrm>
            <a:off x="502920" y="2103120"/>
            <a:ext cx="2807208" cy="3017520"/>
          </a:xfrm>
          <a:prstGeom prst="rect">
            <a:avLst/>
          </a:prstGeom>
          <a:solidFill>
            <a:srgbClr val="FFFFFF"/>
          </a:solidFill>
          <a:ln w="12700">
            <a:solidFill>
              <a:srgbClr val="DC2626"/>
            </a:solidFill>
            <a:prstDash val="solid"/>
          </a:ln>
        </p:spPr>
        <p:txBody>
          <a:bodyPr/>
          <a:lstStyle/>
          <a:p>
            <a:endParaRPr lang="en-US"/>
          </a:p>
        </p:txBody>
      </p:sp>
      <p:sp>
        <p:nvSpPr>
          <p:cNvPr id="10" name="Shape 8"/>
          <p:cNvSpPr/>
          <p:nvPr/>
        </p:nvSpPr>
        <p:spPr>
          <a:xfrm>
            <a:off x="502920" y="2103120"/>
            <a:ext cx="2807208" cy="384048"/>
          </a:xfrm>
          <a:prstGeom prst="rect">
            <a:avLst/>
          </a:prstGeom>
          <a:solidFill>
            <a:srgbClr val="DC2626"/>
          </a:solidFill>
          <a:ln w="12700">
            <a:solidFill>
              <a:srgbClr val="DC2626"/>
            </a:solidFill>
            <a:prstDash val="solid"/>
          </a:ln>
        </p:spPr>
        <p:txBody>
          <a:bodyPr/>
          <a:lstStyle/>
          <a:p>
            <a:endParaRPr lang="en-US"/>
          </a:p>
        </p:txBody>
      </p:sp>
      <p:sp>
        <p:nvSpPr>
          <p:cNvPr id="11" name="Text 9"/>
          <p:cNvSpPr/>
          <p:nvPr/>
        </p:nvSpPr>
        <p:spPr>
          <a:xfrm>
            <a:off x="685800" y="2103120"/>
            <a:ext cx="246888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TF-IDF</a:t>
            </a:r>
            <a:endParaRPr lang="en-US" sz="1400" dirty="0"/>
          </a:p>
        </p:txBody>
      </p:sp>
      <p:sp>
        <p:nvSpPr>
          <p:cNvPr id="12" name="Text 10"/>
          <p:cNvSpPr/>
          <p:nvPr/>
        </p:nvSpPr>
        <p:spPr>
          <a:xfrm>
            <a:off x="685800" y="2606040"/>
            <a:ext cx="2468880" cy="411480"/>
          </a:xfrm>
          <a:prstGeom prst="rect">
            <a:avLst/>
          </a:prstGeom>
          <a:noFill/>
          <a:ln/>
        </p:spPr>
        <p:txBody>
          <a:bodyPr wrap="square" lIns="0" tIns="0" rIns="0" bIns="0" rtlCol="0" anchor="ctr"/>
          <a:lstStyle/>
          <a:p>
            <a:pPr marL="0" indent="0">
              <a:buNone/>
            </a:pPr>
            <a:r>
              <a:rPr lang="en-US" sz="1800" b="1" dirty="0">
                <a:solidFill>
                  <a:srgbClr val="DC2626"/>
                </a:solidFill>
                <a:latin typeface="Calibri" pitchFamily="34" charset="0"/>
                <a:ea typeface="Calibri" pitchFamily="34" charset="-122"/>
                <a:cs typeface="Calibri" pitchFamily="34" charset="-120"/>
              </a:rPr>
              <a:t>07-16</a:t>
            </a:r>
            <a:endParaRPr lang="en-US" sz="1800" dirty="0"/>
          </a:p>
        </p:txBody>
      </p:sp>
      <p:sp>
        <p:nvSpPr>
          <p:cNvPr id="13" name="Text 11"/>
          <p:cNvSpPr/>
          <p:nvPr/>
        </p:nvSpPr>
        <p:spPr>
          <a:xfrm>
            <a:off x="685800" y="3017520"/>
            <a:ext cx="246888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F-12 PDF (2007)</a:t>
            </a:r>
            <a:endParaRPr lang="en-US" sz="1000" dirty="0"/>
          </a:p>
        </p:txBody>
      </p:sp>
      <p:sp>
        <p:nvSpPr>
          <p:cNvPr id="14" name="Text 12"/>
          <p:cNvSpPr/>
          <p:nvPr/>
        </p:nvSpPr>
        <p:spPr>
          <a:xfrm>
            <a:off x="685800" y="3337560"/>
            <a:ext cx="2468880" cy="132588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L/O 26" BHA — right bit, wrong stage (after the POOH)</a:t>
            </a:r>
            <a:endParaRPr lang="en-US" sz="1100" dirty="0"/>
          </a:p>
        </p:txBody>
      </p:sp>
      <p:sp>
        <p:nvSpPr>
          <p:cNvPr id="15" name="Text 13"/>
          <p:cNvSpPr/>
          <p:nvPr/>
        </p:nvSpPr>
        <p:spPr>
          <a:xfrm>
            <a:off x="685800" y="4709160"/>
            <a:ext cx="2468880" cy="365760"/>
          </a:xfrm>
          <a:prstGeom prst="rect">
            <a:avLst/>
          </a:prstGeom>
          <a:noFill/>
          <a:ln/>
        </p:spPr>
        <p:txBody>
          <a:bodyPr wrap="square" lIns="0" tIns="0" rIns="0" bIns="0" rtlCol="0" anchor="ctr"/>
          <a:lstStyle/>
          <a:p>
            <a:pPr marL="0" indent="0">
              <a:buNone/>
            </a:pPr>
            <a:r>
              <a:rPr lang="en-US" sz="1400" b="1" dirty="0">
                <a:solidFill>
                  <a:srgbClr val="DC2626"/>
                </a:solidFill>
                <a:latin typeface="Calibri" pitchFamily="34" charset="0"/>
                <a:ea typeface="Calibri" pitchFamily="34" charset="-122"/>
                <a:cs typeface="Calibri" pitchFamily="34" charset="-120"/>
              </a:rPr>
              <a:t>✗ wrong</a:t>
            </a:r>
            <a:endParaRPr lang="en-US" sz="1400" dirty="0"/>
          </a:p>
        </p:txBody>
      </p:sp>
      <p:sp>
        <p:nvSpPr>
          <p:cNvPr id="16" name="Shape 14"/>
          <p:cNvSpPr/>
          <p:nvPr/>
        </p:nvSpPr>
        <p:spPr>
          <a:xfrm>
            <a:off x="3392424" y="2103120"/>
            <a:ext cx="2807208" cy="3017520"/>
          </a:xfrm>
          <a:prstGeom prst="rect">
            <a:avLst/>
          </a:prstGeom>
          <a:solidFill>
            <a:srgbClr val="FFFFFF"/>
          </a:solidFill>
          <a:ln w="12700">
            <a:solidFill>
              <a:srgbClr val="DC2626"/>
            </a:solidFill>
            <a:prstDash val="solid"/>
          </a:ln>
        </p:spPr>
        <p:txBody>
          <a:bodyPr/>
          <a:lstStyle/>
          <a:p>
            <a:endParaRPr lang="en-US"/>
          </a:p>
        </p:txBody>
      </p:sp>
      <p:sp>
        <p:nvSpPr>
          <p:cNvPr id="17" name="Shape 15"/>
          <p:cNvSpPr/>
          <p:nvPr/>
        </p:nvSpPr>
        <p:spPr>
          <a:xfrm>
            <a:off x="3392424" y="2103120"/>
            <a:ext cx="2807208" cy="384048"/>
          </a:xfrm>
          <a:prstGeom prst="rect">
            <a:avLst/>
          </a:prstGeom>
          <a:solidFill>
            <a:srgbClr val="DC2626"/>
          </a:solidFill>
          <a:ln w="12700">
            <a:solidFill>
              <a:srgbClr val="DC2626"/>
            </a:solidFill>
            <a:prstDash val="solid"/>
          </a:ln>
        </p:spPr>
        <p:txBody>
          <a:bodyPr/>
          <a:lstStyle/>
          <a:p>
            <a:endParaRPr lang="en-US"/>
          </a:p>
        </p:txBody>
      </p:sp>
      <p:sp>
        <p:nvSpPr>
          <p:cNvPr id="18" name="Text 16"/>
          <p:cNvSpPr/>
          <p:nvPr/>
        </p:nvSpPr>
        <p:spPr>
          <a:xfrm>
            <a:off x="3575304" y="2103120"/>
            <a:ext cx="246888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SBERT</a:t>
            </a:r>
            <a:endParaRPr lang="en-US" sz="1400" dirty="0"/>
          </a:p>
        </p:txBody>
      </p:sp>
      <p:sp>
        <p:nvSpPr>
          <p:cNvPr id="19" name="Text 17"/>
          <p:cNvSpPr/>
          <p:nvPr/>
        </p:nvSpPr>
        <p:spPr>
          <a:xfrm>
            <a:off x="3575304" y="2606040"/>
            <a:ext cx="2468880" cy="411480"/>
          </a:xfrm>
          <a:prstGeom prst="rect">
            <a:avLst/>
          </a:prstGeom>
          <a:noFill/>
          <a:ln/>
        </p:spPr>
        <p:txBody>
          <a:bodyPr wrap="square" lIns="0" tIns="0" rIns="0" bIns="0" rtlCol="0" anchor="ctr"/>
          <a:lstStyle/>
          <a:p>
            <a:pPr marL="0" indent="0">
              <a:buNone/>
            </a:pPr>
            <a:r>
              <a:rPr lang="en-US" sz="1800" b="1" dirty="0">
                <a:solidFill>
                  <a:srgbClr val="DC2626"/>
                </a:solidFill>
                <a:latin typeface="Calibri" pitchFamily="34" charset="0"/>
                <a:ea typeface="Calibri" pitchFamily="34" charset="-122"/>
                <a:cs typeface="Calibri" pitchFamily="34" charset="-120"/>
              </a:rPr>
              <a:t>07-23</a:t>
            </a:r>
            <a:endParaRPr lang="en-US" sz="1800" dirty="0"/>
          </a:p>
        </p:txBody>
      </p:sp>
      <p:sp>
        <p:nvSpPr>
          <p:cNvPr id="20" name="Text 18"/>
          <p:cNvSpPr/>
          <p:nvPr/>
        </p:nvSpPr>
        <p:spPr>
          <a:xfrm>
            <a:off x="3575304" y="3017520"/>
            <a:ext cx="246888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F-12 PDF (2007)</a:t>
            </a:r>
            <a:endParaRPr lang="en-US" sz="1000" dirty="0"/>
          </a:p>
        </p:txBody>
      </p:sp>
      <p:sp>
        <p:nvSpPr>
          <p:cNvPr id="21" name="Text 19"/>
          <p:cNvSpPr/>
          <p:nvPr/>
        </p:nvSpPr>
        <p:spPr>
          <a:xfrm>
            <a:off x="3575304" y="3337560"/>
            <a:ext cx="2468880" cy="132588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POOH 17.5" BHA — wrong bit, right operation type</a:t>
            </a:r>
            <a:endParaRPr lang="en-US" sz="1100" dirty="0"/>
          </a:p>
        </p:txBody>
      </p:sp>
      <p:sp>
        <p:nvSpPr>
          <p:cNvPr id="22" name="Text 20"/>
          <p:cNvSpPr/>
          <p:nvPr/>
        </p:nvSpPr>
        <p:spPr>
          <a:xfrm>
            <a:off x="3575304" y="4709160"/>
            <a:ext cx="2468880" cy="365760"/>
          </a:xfrm>
          <a:prstGeom prst="rect">
            <a:avLst/>
          </a:prstGeom>
          <a:noFill/>
          <a:ln/>
        </p:spPr>
        <p:txBody>
          <a:bodyPr wrap="square" lIns="0" tIns="0" rIns="0" bIns="0" rtlCol="0" anchor="ctr"/>
          <a:lstStyle/>
          <a:p>
            <a:pPr marL="0" indent="0">
              <a:buNone/>
            </a:pPr>
            <a:r>
              <a:rPr lang="en-US" sz="1400" b="1" dirty="0">
                <a:solidFill>
                  <a:srgbClr val="DC2626"/>
                </a:solidFill>
                <a:latin typeface="Calibri" pitchFamily="34" charset="0"/>
                <a:ea typeface="Calibri" pitchFamily="34" charset="-122"/>
                <a:cs typeface="Calibri" pitchFamily="34" charset="-120"/>
              </a:rPr>
              <a:t>✗ wrong</a:t>
            </a:r>
            <a:endParaRPr lang="en-US" sz="1400" dirty="0"/>
          </a:p>
        </p:txBody>
      </p:sp>
      <p:sp>
        <p:nvSpPr>
          <p:cNvPr id="23" name="Shape 21"/>
          <p:cNvSpPr/>
          <p:nvPr/>
        </p:nvSpPr>
        <p:spPr>
          <a:xfrm>
            <a:off x="6281928" y="2103120"/>
            <a:ext cx="2807208" cy="3017520"/>
          </a:xfrm>
          <a:prstGeom prst="rect">
            <a:avLst/>
          </a:prstGeom>
          <a:solidFill>
            <a:srgbClr val="FFFFFF"/>
          </a:solidFill>
          <a:ln w="12700">
            <a:solidFill>
              <a:srgbClr val="1C7293"/>
            </a:solidFill>
            <a:prstDash val="solid"/>
          </a:ln>
        </p:spPr>
        <p:txBody>
          <a:bodyPr/>
          <a:lstStyle/>
          <a:p>
            <a:endParaRPr lang="en-US"/>
          </a:p>
        </p:txBody>
      </p:sp>
      <p:sp>
        <p:nvSpPr>
          <p:cNvPr id="24" name="Shape 22"/>
          <p:cNvSpPr/>
          <p:nvPr/>
        </p:nvSpPr>
        <p:spPr>
          <a:xfrm>
            <a:off x="6281928" y="2103120"/>
            <a:ext cx="2807208" cy="384048"/>
          </a:xfrm>
          <a:prstGeom prst="rect">
            <a:avLst/>
          </a:prstGeom>
          <a:solidFill>
            <a:srgbClr val="1C7293"/>
          </a:solidFill>
          <a:ln w="12700">
            <a:solidFill>
              <a:srgbClr val="1C7293"/>
            </a:solidFill>
            <a:prstDash val="solid"/>
          </a:ln>
        </p:spPr>
        <p:txBody>
          <a:bodyPr/>
          <a:lstStyle/>
          <a:p>
            <a:endParaRPr lang="en-US"/>
          </a:p>
        </p:txBody>
      </p:sp>
      <p:sp>
        <p:nvSpPr>
          <p:cNvPr id="25" name="Text 23"/>
          <p:cNvSpPr/>
          <p:nvPr/>
        </p:nvSpPr>
        <p:spPr>
          <a:xfrm>
            <a:off x="6464808" y="2103120"/>
            <a:ext cx="246888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HYBRID</a:t>
            </a:r>
            <a:endParaRPr lang="en-US" sz="1400" dirty="0"/>
          </a:p>
        </p:txBody>
      </p:sp>
      <p:sp>
        <p:nvSpPr>
          <p:cNvPr id="26" name="Text 24"/>
          <p:cNvSpPr/>
          <p:nvPr/>
        </p:nvSpPr>
        <p:spPr>
          <a:xfrm>
            <a:off x="6464808" y="2606040"/>
            <a:ext cx="2468880" cy="411480"/>
          </a:xfrm>
          <a:prstGeom prst="rect">
            <a:avLst/>
          </a:prstGeom>
          <a:noFill/>
          <a:ln/>
        </p:spPr>
        <p:txBody>
          <a:bodyPr wrap="square" lIns="0" tIns="0" rIns="0" bIns="0" rtlCol="0" anchor="ctr"/>
          <a:lstStyle/>
          <a:p>
            <a:pPr marL="0" indent="0">
              <a:buNone/>
            </a:pPr>
            <a:r>
              <a:rPr lang="en-US" sz="1800" b="1" dirty="0">
                <a:solidFill>
                  <a:srgbClr val="1C7293"/>
                </a:solidFill>
                <a:latin typeface="Calibri" pitchFamily="34" charset="0"/>
                <a:ea typeface="Calibri" pitchFamily="34" charset="-122"/>
                <a:cs typeface="Calibri" pitchFamily="34" charset="-120"/>
              </a:rPr>
              <a:t>08-26</a:t>
            </a:r>
            <a:endParaRPr lang="en-US" sz="1800" dirty="0"/>
          </a:p>
        </p:txBody>
      </p:sp>
      <p:sp>
        <p:nvSpPr>
          <p:cNvPr id="27" name="Text 25"/>
          <p:cNvSpPr/>
          <p:nvPr/>
        </p:nvSpPr>
        <p:spPr>
          <a:xfrm>
            <a:off x="6464808" y="3017520"/>
            <a:ext cx="246888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F-12 PDF (2007)</a:t>
            </a:r>
            <a:endParaRPr lang="en-US" sz="1000" dirty="0"/>
          </a:p>
        </p:txBody>
      </p:sp>
      <p:sp>
        <p:nvSpPr>
          <p:cNvPr id="28" name="Text 26"/>
          <p:cNvSpPr/>
          <p:nvPr/>
        </p:nvSpPr>
        <p:spPr>
          <a:xfrm>
            <a:off x="6464808" y="3337560"/>
            <a:ext cx="2468880" cy="132588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L/D 26" BHA from cellar — close but not the event itself</a:t>
            </a:r>
            <a:endParaRPr lang="en-US" sz="1100" dirty="0"/>
          </a:p>
        </p:txBody>
      </p:sp>
      <p:sp>
        <p:nvSpPr>
          <p:cNvPr id="29" name="Text 27"/>
          <p:cNvSpPr/>
          <p:nvPr/>
        </p:nvSpPr>
        <p:spPr>
          <a:xfrm>
            <a:off x="6464808" y="4709160"/>
            <a:ext cx="2468880" cy="365760"/>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 near</a:t>
            </a:r>
            <a:endParaRPr lang="en-US" sz="1400" dirty="0"/>
          </a:p>
        </p:txBody>
      </p:sp>
      <p:sp>
        <p:nvSpPr>
          <p:cNvPr id="30" name="Shape 28"/>
          <p:cNvSpPr/>
          <p:nvPr/>
        </p:nvSpPr>
        <p:spPr>
          <a:xfrm>
            <a:off x="9171432" y="2103120"/>
            <a:ext cx="2807208" cy="3017520"/>
          </a:xfrm>
          <a:prstGeom prst="rect">
            <a:avLst/>
          </a:prstGeom>
          <a:solidFill>
            <a:srgbClr val="FFFFFF"/>
          </a:solidFill>
          <a:ln w="12700">
            <a:solidFill>
              <a:srgbClr val="F97316"/>
            </a:solidFill>
            <a:prstDash val="solid"/>
          </a:ln>
        </p:spPr>
        <p:txBody>
          <a:bodyPr/>
          <a:lstStyle/>
          <a:p>
            <a:endParaRPr lang="en-US"/>
          </a:p>
        </p:txBody>
      </p:sp>
      <p:sp>
        <p:nvSpPr>
          <p:cNvPr id="31" name="Shape 29"/>
          <p:cNvSpPr/>
          <p:nvPr/>
        </p:nvSpPr>
        <p:spPr>
          <a:xfrm>
            <a:off x="9171432" y="2103120"/>
            <a:ext cx="2807208" cy="384048"/>
          </a:xfrm>
          <a:prstGeom prst="rect">
            <a:avLst/>
          </a:prstGeom>
          <a:solidFill>
            <a:srgbClr val="F97316"/>
          </a:solidFill>
          <a:ln w="12700">
            <a:solidFill>
              <a:srgbClr val="F97316"/>
            </a:solidFill>
            <a:prstDash val="solid"/>
          </a:ln>
        </p:spPr>
        <p:txBody>
          <a:bodyPr/>
          <a:lstStyle/>
          <a:p>
            <a:endParaRPr lang="en-US"/>
          </a:p>
        </p:txBody>
      </p:sp>
      <p:sp>
        <p:nvSpPr>
          <p:cNvPr id="32" name="Text 30"/>
          <p:cNvSpPr/>
          <p:nvPr/>
        </p:nvSpPr>
        <p:spPr>
          <a:xfrm>
            <a:off x="9354312" y="2103120"/>
            <a:ext cx="246888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RERANKED</a:t>
            </a:r>
            <a:endParaRPr lang="en-US" sz="1400" dirty="0"/>
          </a:p>
        </p:txBody>
      </p:sp>
      <p:sp>
        <p:nvSpPr>
          <p:cNvPr id="33" name="Text 31"/>
          <p:cNvSpPr/>
          <p:nvPr/>
        </p:nvSpPr>
        <p:spPr>
          <a:xfrm>
            <a:off x="9354312" y="2606040"/>
            <a:ext cx="2468880" cy="411480"/>
          </a:xfrm>
          <a:prstGeom prst="rect">
            <a:avLst/>
          </a:prstGeom>
          <a:noFill/>
          <a:ln/>
        </p:spPr>
        <p:txBody>
          <a:bodyPr wrap="square" lIns="0" tIns="0" rIns="0" bIns="0" rtlCol="0" anchor="ctr"/>
          <a:lstStyle/>
          <a:p>
            <a:pPr marL="0" indent="0">
              <a:buNone/>
            </a:pPr>
            <a:r>
              <a:rPr lang="en-US" sz="1800" b="1" dirty="0">
                <a:solidFill>
                  <a:srgbClr val="F97316"/>
                </a:solidFill>
                <a:latin typeface="Calibri" pitchFamily="34" charset="0"/>
                <a:ea typeface="Calibri" pitchFamily="34" charset="-122"/>
                <a:cs typeface="Calibri" pitchFamily="34" charset="-120"/>
              </a:rPr>
              <a:t>07-12</a:t>
            </a:r>
            <a:endParaRPr lang="en-US" sz="1800" dirty="0"/>
          </a:p>
        </p:txBody>
      </p:sp>
      <p:sp>
        <p:nvSpPr>
          <p:cNvPr id="34" name="Text 32"/>
          <p:cNvSpPr/>
          <p:nvPr/>
        </p:nvSpPr>
        <p:spPr>
          <a:xfrm>
            <a:off x="9354312" y="3017520"/>
            <a:ext cx="246888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F-12 PDF (2007)</a:t>
            </a:r>
            <a:endParaRPr lang="en-US" sz="1000" dirty="0"/>
          </a:p>
        </p:txBody>
      </p:sp>
      <p:sp>
        <p:nvSpPr>
          <p:cNvPr id="35" name="Text 33"/>
          <p:cNvSpPr/>
          <p:nvPr/>
        </p:nvSpPr>
        <p:spPr>
          <a:xfrm>
            <a:off x="9354312" y="3337560"/>
            <a:ext cx="2468880" cy="132588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POOH w/ 26" BHA. 20 MT overpull. Lubricated out.</a:t>
            </a:r>
            <a:endParaRPr lang="en-US" sz="1100" dirty="0"/>
          </a:p>
        </p:txBody>
      </p:sp>
      <p:sp>
        <p:nvSpPr>
          <p:cNvPr id="36" name="Text 34"/>
          <p:cNvSpPr/>
          <p:nvPr/>
        </p:nvSpPr>
        <p:spPr>
          <a:xfrm>
            <a:off x="9354312" y="4709160"/>
            <a:ext cx="2468880" cy="365760"/>
          </a:xfrm>
          <a:prstGeom prst="rect">
            <a:avLst/>
          </a:prstGeom>
          <a:noFill/>
          <a:ln/>
        </p:spPr>
        <p:txBody>
          <a:bodyPr wrap="square" lIns="0" tIns="0" rIns="0" bIns="0" rtlCol="0" anchor="ctr"/>
          <a:lstStyle/>
          <a:p>
            <a:pPr marL="0" indent="0">
              <a:buNone/>
            </a:pPr>
            <a:r>
              <a:rPr lang="en-US" sz="1400" b="1" dirty="0">
                <a:solidFill>
                  <a:srgbClr val="F97316"/>
                </a:solidFill>
                <a:latin typeface="Calibri" pitchFamily="34" charset="0"/>
                <a:ea typeface="Calibri" pitchFamily="34" charset="-122"/>
                <a:cs typeface="Calibri" pitchFamily="34" charset="-120"/>
              </a:rPr>
              <a:t>✓ correct</a:t>
            </a:r>
            <a:endParaRPr lang="en-US" sz="1400" dirty="0"/>
          </a:p>
        </p:txBody>
      </p:sp>
      <p:sp>
        <p:nvSpPr>
          <p:cNvPr id="37" name="Shape 35"/>
          <p:cNvSpPr/>
          <p:nvPr/>
        </p:nvSpPr>
        <p:spPr>
          <a:xfrm>
            <a:off x="502920" y="5440680"/>
            <a:ext cx="11155680" cy="868680"/>
          </a:xfrm>
          <a:prstGeom prst="rect">
            <a:avLst/>
          </a:prstGeom>
          <a:solidFill>
            <a:srgbClr val="E6F1F7"/>
          </a:solidFill>
          <a:ln w="12700">
            <a:solidFill>
              <a:srgbClr val="E6F1F7"/>
            </a:solidFill>
            <a:prstDash val="solid"/>
          </a:ln>
        </p:spPr>
        <p:txBody>
          <a:bodyPr/>
          <a:lstStyle/>
          <a:p>
            <a:endParaRPr lang="en-US"/>
          </a:p>
        </p:txBody>
      </p:sp>
      <p:sp>
        <p:nvSpPr>
          <p:cNvPr id="38" name="Shape 36"/>
          <p:cNvSpPr/>
          <p:nvPr/>
        </p:nvSpPr>
        <p:spPr>
          <a:xfrm>
            <a:off x="502920" y="5440680"/>
            <a:ext cx="91440" cy="868680"/>
          </a:xfrm>
          <a:prstGeom prst="rect">
            <a:avLst/>
          </a:prstGeom>
          <a:solidFill>
            <a:srgbClr val="F97316"/>
          </a:solidFill>
          <a:ln w="12700">
            <a:solidFill>
              <a:srgbClr val="F97316"/>
            </a:solidFill>
            <a:prstDash val="solid"/>
          </a:ln>
        </p:spPr>
        <p:txBody>
          <a:bodyPr/>
          <a:lstStyle/>
          <a:p>
            <a:endParaRPr lang="en-US"/>
          </a:p>
        </p:txBody>
      </p:sp>
      <p:sp>
        <p:nvSpPr>
          <p:cNvPr id="39" name="Text 37"/>
          <p:cNvSpPr/>
          <p:nvPr/>
        </p:nvSpPr>
        <p:spPr>
          <a:xfrm>
            <a:off x="777240" y="5532120"/>
            <a:ext cx="10058400" cy="274320"/>
          </a:xfrm>
          <a:prstGeom prst="rect">
            <a:avLst/>
          </a:prstGeom>
          <a:noFill/>
          <a:ln/>
        </p:spPr>
        <p:txBody>
          <a:bodyPr wrap="square" lIns="0" tIns="0" rIns="0" bIns="0" rtlCol="0" anchor="ctr"/>
          <a:lstStyle/>
          <a:p>
            <a:pPr marL="0" indent="0">
              <a:buNone/>
            </a:pPr>
            <a:r>
              <a:rPr lang="en-US" sz="1100" b="1" kern="0" spc="300" dirty="0">
                <a:solidFill>
                  <a:srgbClr val="F97316"/>
                </a:solidFill>
                <a:latin typeface="Calibri" pitchFamily="34" charset="0"/>
                <a:ea typeface="Calibri" pitchFamily="34" charset="-122"/>
                <a:cs typeface="Calibri" pitchFamily="34" charset="-120"/>
              </a:rPr>
              <a:t>WHAT THIS PROVES</a:t>
            </a:r>
            <a:endParaRPr lang="en-US" sz="1100" dirty="0"/>
          </a:p>
        </p:txBody>
      </p:sp>
      <p:sp>
        <p:nvSpPr>
          <p:cNvPr id="40" name="Text 38"/>
          <p:cNvSpPr/>
          <p:nvPr/>
        </p:nvSpPr>
        <p:spPr>
          <a:xfrm>
            <a:off x="777240" y="5806440"/>
            <a:ext cx="10607040" cy="5029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The hypothesis was correct. </a:t>
            </a:r>
            <a:r>
              <a:rPr lang="en-US" sz="1200" dirty="0">
                <a:solidFill>
                  <a:srgbClr val="1E293B"/>
                </a:solidFill>
                <a:latin typeface="Calibri" pitchFamily="34" charset="0"/>
                <a:ea typeface="Calibri" pitchFamily="34" charset="-122"/>
                <a:cs typeface="Calibri" pitchFamily="34" charset="-120"/>
              </a:rPr>
              <a:t>TF-IDF caught '26"' but missed POOH context; SBERT caught POOH but missed '26"'. The reranker was designed to recover the literal, and it did. </a:t>
            </a:r>
            <a:r>
              <a:rPr lang="en-US" sz="1200" b="1" i="1" dirty="0">
                <a:solidFill>
                  <a:srgbClr val="F97316"/>
                </a:solidFill>
                <a:latin typeface="Calibri" pitchFamily="34" charset="0"/>
                <a:ea typeface="Calibri" pitchFamily="34" charset="-122"/>
                <a:cs typeface="Calibri" pitchFamily="34" charset="-120"/>
              </a:rPr>
              <a:t>Design-by-failure-analysis works.</a:t>
            </a:r>
            <a:endParaRPr lang="en-US" sz="1200" dirty="0"/>
          </a:p>
        </p:txBody>
      </p:sp>
      <p:sp>
        <p:nvSpPr>
          <p:cNvPr id="41" name="Text 39"/>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Ayxan Muxtar  ·  eiLink RA-DS 2026</a:t>
            </a:r>
            <a:endParaRPr lang="en-US" sz="900" dirty="0"/>
          </a:p>
        </p:txBody>
      </p:sp>
      <p:sp>
        <p:nvSpPr>
          <p:cNvPr id="42" name="Text 40"/>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640080" y="2743200"/>
            <a:ext cx="109728" cy="1554480"/>
          </a:xfrm>
          <a:prstGeom prst="rect">
            <a:avLst/>
          </a:prstGeom>
          <a:solidFill>
            <a:srgbClr val="F97316"/>
          </a:solidFill>
          <a:ln w="12700">
            <a:solidFill>
              <a:srgbClr val="F97316"/>
            </a:solidFill>
            <a:prstDash val="solid"/>
          </a:ln>
        </p:spPr>
        <p:txBody>
          <a:bodyPr/>
          <a:lstStyle/>
          <a:p>
            <a:endParaRPr lang="en-US"/>
          </a:p>
        </p:txBody>
      </p:sp>
      <p:sp>
        <p:nvSpPr>
          <p:cNvPr id="3" name="Text 1"/>
          <p:cNvSpPr/>
          <p:nvPr/>
        </p:nvSpPr>
        <p:spPr>
          <a:xfrm>
            <a:off x="914400" y="2743200"/>
            <a:ext cx="10058400" cy="320040"/>
          </a:xfrm>
          <a:prstGeom prst="rect">
            <a:avLst/>
          </a:prstGeom>
          <a:noFill/>
          <a:ln/>
        </p:spPr>
        <p:txBody>
          <a:bodyPr wrap="square" lIns="0" tIns="0" rIns="0" bIns="0" rtlCol="0" anchor="ctr"/>
          <a:lstStyle/>
          <a:p>
            <a:pPr marL="0" indent="0">
              <a:buNone/>
            </a:pPr>
            <a:r>
              <a:rPr lang="en-US" sz="1400" b="1" kern="0" spc="600" dirty="0">
                <a:solidFill>
                  <a:srgbClr val="F97316"/>
                </a:solidFill>
                <a:latin typeface="Calibri" pitchFamily="34" charset="0"/>
                <a:ea typeface="Calibri" pitchFamily="34" charset="-122"/>
                <a:cs typeface="Calibri" pitchFamily="34" charset="-120"/>
              </a:rPr>
              <a:t>TASK 3  ·  NLP</a:t>
            </a:r>
            <a:endParaRPr lang="en-US" sz="1400" dirty="0"/>
          </a:p>
        </p:txBody>
      </p:sp>
      <p:sp>
        <p:nvSpPr>
          <p:cNvPr id="4" name="Text 2"/>
          <p:cNvSpPr/>
          <p:nvPr/>
        </p:nvSpPr>
        <p:spPr>
          <a:xfrm>
            <a:off x="914400" y="3154680"/>
            <a:ext cx="10972800" cy="11887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When rules beat models — and when they don't</a:t>
            </a:r>
            <a:endParaRPr lang="en-US" sz="3600" dirty="0"/>
          </a:p>
        </p:txBody>
      </p:sp>
      <p:sp>
        <p:nvSpPr>
          <p:cNvPr id="5" name="Text 3"/>
          <p:cNvSpPr/>
          <p:nvPr/>
        </p:nvSpPr>
        <p:spPr>
          <a:xfrm>
            <a:off x="914400" y="4572000"/>
            <a:ext cx="10972800" cy="914400"/>
          </a:xfrm>
          <a:prstGeom prst="rect">
            <a:avLst/>
          </a:prstGeom>
          <a:noFill/>
          <a:ln/>
        </p:spPr>
        <p:txBody>
          <a:bodyPr wrap="square" lIns="0" tIns="0" rIns="0" bIns="0" rtlCol="0" anchor="ctr"/>
          <a:lstStyle/>
          <a:p>
            <a:pPr marL="0" indent="0">
              <a:buNone/>
            </a:pPr>
            <a:r>
              <a:rPr lang="en-US" sz="1400" i="1" dirty="0">
                <a:solidFill>
                  <a:srgbClr val="E6F1F7"/>
                </a:solidFill>
                <a:latin typeface="Calibri" pitchFamily="34" charset="0"/>
                <a:ea typeface="Calibri" pitchFamily="34" charset="-122"/>
                <a:cs typeface="Calibri" pitchFamily="34" charset="-120"/>
              </a:rPr>
              <a:t>Three sub-tasks (NER, activity classification, TF-IDF keywords). For each, the choice between rule-based and model-based was deliberate.</a:t>
            </a:r>
            <a:endParaRPr lang="en-US" sz="1400" dirty="0"/>
          </a:p>
        </p:txBody>
      </p:sp>
      <p:sp>
        <p:nvSpPr>
          <p:cNvPr id="6" name="Text 4"/>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Ayxan Muxtar  ·  eiLink RA-DS 2026</a:t>
            </a:r>
            <a:endParaRPr lang="en-US" sz="900" dirty="0"/>
          </a:p>
        </p:txBody>
      </p:sp>
      <p:sp>
        <p:nvSpPr>
          <p:cNvPr id="7" name="Text 5"/>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1C7293"/>
          </a:solidFill>
          <a:ln w="12700">
            <a:solidFill>
              <a:srgbClr val="1C7293"/>
            </a:solidFill>
            <a:prstDash val="solid"/>
          </a:ln>
        </p:spPr>
        <p:txBody>
          <a:bodyPr/>
          <a:lstStyle/>
          <a:p>
            <a:endParaRPr lang="en-US"/>
          </a:p>
        </p:txBody>
      </p:sp>
      <p:sp>
        <p:nvSpPr>
          <p:cNvPr id="3" name="Text 1"/>
          <p:cNvSpPr/>
          <p:nvPr/>
        </p:nvSpPr>
        <p:spPr>
          <a:xfrm>
            <a:off x="502920" y="228600"/>
            <a:ext cx="548640" cy="457200"/>
          </a:xfrm>
          <a:prstGeom prst="rect">
            <a:avLst/>
          </a:prstGeom>
          <a:noFill/>
          <a:ln/>
        </p:spPr>
        <p:txBody>
          <a:bodyPr wrap="square" lIns="0" tIns="0" rIns="0" bIns="0" rtlCol="0" anchor="ctr"/>
          <a:lstStyle/>
          <a:p>
            <a:pPr marL="0" indent="0">
              <a:buNone/>
            </a:pPr>
            <a:r>
              <a:rPr lang="en-US" sz="2800" b="1" dirty="0">
                <a:solidFill>
                  <a:srgbClr val="1C7293"/>
                </a:solidFill>
                <a:latin typeface="Calibri" pitchFamily="34" charset="0"/>
                <a:ea typeface="Calibri" pitchFamily="34" charset="-122"/>
                <a:cs typeface="Calibri" pitchFamily="34" charset="-120"/>
              </a:rPr>
              <a:t>12</a:t>
            </a:r>
            <a:endParaRPr lang="en-US" sz="2800" dirty="0"/>
          </a:p>
        </p:txBody>
      </p:sp>
      <p:sp>
        <p:nvSpPr>
          <p:cNvPr id="4" name="Text 2"/>
          <p:cNvSpPr/>
          <p:nvPr/>
        </p:nvSpPr>
        <p:spPr>
          <a:xfrm>
            <a:off x="1097280" y="228600"/>
            <a:ext cx="1060704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NER: chose regex + dictionary over a fine-tuned model</a:t>
            </a:r>
            <a:endParaRPr lang="en-US" sz="2600" dirty="0"/>
          </a:p>
        </p:txBody>
      </p:sp>
      <p:sp>
        <p:nvSpPr>
          <p:cNvPr id="5" name="Text 3"/>
          <p:cNvSpPr/>
          <p:nvPr/>
        </p:nvSpPr>
        <p:spPr>
          <a:xfrm>
            <a:off x="1097280" y="713232"/>
            <a:ext cx="1060704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And here's why that's the better engineering choice</a:t>
            </a:r>
            <a:endParaRPr lang="en-US" sz="1300" dirty="0"/>
          </a:p>
        </p:txBody>
      </p:sp>
      <p:sp>
        <p:nvSpPr>
          <p:cNvPr id="6" name="Shape 4"/>
          <p:cNvSpPr/>
          <p:nvPr/>
        </p:nvSpPr>
        <p:spPr>
          <a:xfrm>
            <a:off x="502920" y="1143000"/>
            <a:ext cx="5532120" cy="4937760"/>
          </a:xfrm>
          <a:prstGeom prst="rect">
            <a:avLst/>
          </a:prstGeom>
          <a:solidFill>
            <a:srgbClr val="FFFFFF"/>
          </a:solidFill>
          <a:ln w="25400">
            <a:solidFill>
              <a:srgbClr val="16A34A"/>
            </a:solidFill>
            <a:prstDash val="solid"/>
          </a:ln>
        </p:spPr>
        <p:txBody>
          <a:bodyPr/>
          <a:lstStyle/>
          <a:p>
            <a:endParaRPr lang="en-US"/>
          </a:p>
        </p:txBody>
      </p:sp>
      <p:sp>
        <p:nvSpPr>
          <p:cNvPr id="7" name="Shape 5"/>
          <p:cNvSpPr/>
          <p:nvPr/>
        </p:nvSpPr>
        <p:spPr>
          <a:xfrm>
            <a:off x="502920" y="1143000"/>
            <a:ext cx="5532120" cy="73152"/>
          </a:xfrm>
          <a:prstGeom prst="rect">
            <a:avLst/>
          </a:prstGeom>
          <a:solidFill>
            <a:srgbClr val="16A34A"/>
          </a:solidFill>
          <a:ln w="12700">
            <a:solidFill>
              <a:srgbClr val="16A34A"/>
            </a:solidFill>
            <a:prstDash val="solid"/>
          </a:ln>
        </p:spPr>
        <p:txBody>
          <a:bodyPr/>
          <a:lstStyle/>
          <a:p>
            <a:endParaRPr lang="en-US"/>
          </a:p>
        </p:txBody>
      </p:sp>
      <p:sp>
        <p:nvSpPr>
          <p:cNvPr id="8" name="Text 6"/>
          <p:cNvSpPr/>
          <p:nvPr/>
        </p:nvSpPr>
        <p:spPr>
          <a:xfrm>
            <a:off x="777240" y="1280160"/>
            <a:ext cx="5029200" cy="274320"/>
          </a:xfrm>
          <a:prstGeom prst="rect">
            <a:avLst/>
          </a:prstGeom>
          <a:noFill/>
          <a:ln/>
        </p:spPr>
        <p:txBody>
          <a:bodyPr wrap="square" lIns="0" tIns="0" rIns="0" bIns="0" rtlCol="0" anchor="ctr"/>
          <a:lstStyle/>
          <a:p>
            <a:pPr marL="0" indent="0">
              <a:buNone/>
            </a:pPr>
            <a:r>
              <a:rPr lang="en-US" sz="1100" b="1" kern="0" spc="300" dirty="0">
                <a:solidFill>
                  <a:srgbClr val="16A34A"/>
                </a:solidFill>
                <a:latin typeface="Calibri" pitchFamily="34" charset="0"/>
                <a:ea typeface="Calibri" pitchFamily="34" charset="-122"/>
                <a:cs typeface="Calibri" pitchFamily="34" charset="-120"/>
              </a:rPr>
              <a:t>RULE-BASED  ·  CHOSEN</a:t>
            </a:r>
            <a:endParaRPr lang="en-US" sz="1100" dirty="0"/>
          </a:p>
        </p:txBody>
      </p:sp>
      <p:sp>
        <p:nvSpPr>
          <p:cNvPr id="9" name="Text 7"/>
          <p:cNvSpPr/>
          <p:nvPr/>
        </p:nvSpPr>
        <p:spPr>
          <a:xfrm>
            <a:off x="777240" y="1554480"/>
            <a:ext cx="5029200" cy="411480"/>
          </a:xfrm>
          <a:prstGeom prst="rect">
            <a:avLst/>
          </a:prstGeom>
          <a:noFill/>
          <a:ln/>
        </p:spPr>
        <p:txBody>
          <a:bodyPr wrap="square" lIns="0" tIns="0" rIns="0" bIns="0"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Regex + curated dictionary</a:t>
            </a:r>
            <a:endParaRPr lang="en-US" sz="1800" dirty="0"/>
          </a:p>
        </p:txBody>
      </p:sp>
      <p:sp>
        <p:nvSpPr>
          <p:cNvPr id="10" name="Text 8"/>
          <p:cNvSpPr/>
          <p:nvPr/>
        </p:nvSpPr>
        <p:spPr>
          <a:xfrm>
            <a:off x="777240" y="2103120"/>
            <a:ext cx="5029200" cy="3886200"/>
          </a:xfrm>
          <a:prstGeom prst="rect">
            <a:avLst/>
          </a:prstGeom>
          <a:noFill/>
          <a:ln/>
        </p:spPr>
        <p:txBody>
          <a:bodyPr wrap="square" lIns="0" tIns="0" rIns="0" bIns="0" rtlCol="0" anchor="t"/>
          <a:lstStyle/>
          <a:p>
            <a:pPr marL="0" indent="0">
              <a:spcAft>
                <a:spcPts val="800"/>
              </a:spcAft>
              <a:buNone/>
            </a:pPr>
            <a:r>
              <a:rPr lang="en-US" sz="1200" b="1" dirty="0">
                <a:solidFill>
                  <a:srgbClr val="1E293B"/>
                </a:solidFill>
                <a:latin typeface="Calibri" pitchFamily="34" charset="0"/>
                <a:ea typeface="Calibri" pitchFamily="34" charset="-122"/>
                <a:cs typeface="Calibri" pitchFamily="34" charset="-120"/>
              </a:rPr>
              <a:t>Closed vocabulary. </a:t>
            </a:r>
            <a:r>
              <a:rPr lang="en-US" sz="1200" dirty="0">
                <a:solidFill>
                  <a:srgbClr val="1E293B"/>
                </a:solidFill>
                <a:latin typeface="Calibri" pitchFamily="34" charset="0"/>
                <a:ea typeface="Calibri" pitchFamily="34" charset="-122"/>
                <a:cs typeface="Calibri" pitchFamily="34" charset="-120"/>
              </a:rPr>
              <a:t>~50 equipment terms cover 99% of usage in this corpus. A list is the right data structure.</a:t>
            </a:r>
            <a:endParaRPr lang="en-US" sz="1200" dirty="0"/>
          </a:p>
          <a:p>
            <a:pPr marL="0" indent="0">
              <a:spcAft>
                <a:spcPts val="800"/>
              </a:spcAft>
              <a:buNone/>
            </a:pPr>
            <a:r>
              <a:rPr lang="en-US" sz="1200" b="1" dirty="0">
                <a:solidFill>
                  <a:srgbClr val="1E293B"/>
                </a:solidFill>
                <a:latin typeface="Calibri" pitchFamily="34" charset="0"/>
                <a:ea typeface="Calibri" pitchFamily="34" charset="-122"/>
                <a:cs typeface="Calibri" pitchFamily="34" charset="-120"/>
              </a:rPr>
              <a:t>Numeric entities follow strict patterns. </a:t>
            </a:r>
            <a:r>
              <a:rPr lang="en-US" sz="1200" dirty="0">
                <a:solidFill>
                  <a:srgbClr val="1E293B"/>
                </a:solidFill>
                <a:latin typeface="Calibri" pitchFamily="34" charset="0"/>
                <a:ea typeface="Calibri" pitchFamily="34" charset="-122"/>
                <a:cs typeface="Calibri" pitchFamily="34" charset="-120"/>
              </a:rPr>
              <a:t>Depth = number + 'm MD'. RPM = number + 'rpm'. Regex captures these with high precision and no training data.</a:t>
            </a:r>
            <a:endParaRPr lang="en-US" sz="1200" dirty="0"/>
          </a:p>
          <a:p>
            <a:pPr marL="0" indent="0">
              <a:spcAft>
                <a:spcPts val="800"/>
              </a:spcAft>
              <a:buNone/>
            </a:pPr>
            <a:r>
              <a:rPr lang="en-US" sz="1200" b="1" dirty="0">
                <a:solidFill>
                  <a:srgbClr val="1E293B"/>
                </a:solidFill>
                <a:latin typeface="Calibri" pitchFamily="34" charset="0"/>
                <a:ea typeface="Calibri" pitchFamily="34" charset="-122"/>
                <a:cs typeface="Calibri" pitchFamily="34" charset="-120"/>
              </a:rPr>
              <a:t>Auditable. </a:t>
            </a:r>
            <a:r>
              <a:rPr lang="en-US" sz="1200" dirty="0">
                <a:solidFill>
                  <a:srgbClr val="1E293B"/>
                </a:solidFill>
                <a:latin typeface="Calibri" pitchFamily="34" charset="0"/>
                <a:ea typeface="Calibri" pitchFamily="34" charset="-122"/>
                <a:cs typeface="Calibri" pitchFamily="34" charset="-120"/>
              </a:rPr>
              <a:t>Every match has a single regex you can read and modify. Easy to add a new equipment term — just edit a list.</a:t>
            </a:r>
            <a:endParaRPr lang="en-US" sz="1200" dirty="0"/>
          </a:p>
          <a:p>
            <a:pPr marL="0" indent="0">
              <a:spcAft>
                <a:spcPts val="800"/>
              </a:spcAft>
              <a:buNone/>
            </a:pPr>
            <a:r>
              <a:rPr lang="en-US" sz="1200" b="1" dirty="0">
                <a:solidFill>
                  <a:srgbClr val="1E293B"/>
                </a:solidFill>
                <a:latin typeface="Calibri" pitchFamily="34" charset="0"/>
                <a:ea typeface="Calibri" pitchFamily="34" charset="-122"/>
                <a:cs typeface="Calibri" pitchFamily="34" charset="-120"/>
              </a:rPr>
              <a:t>No labeled data needed. </a:t>
            </a:r>
            <a:r>
              <a:rPr lang="en-US" sz="1200" dirty="0">
                <a:solidFill>
                  <a:srgbClr val="1E293B"/>
                </a:solidFill>
                <a:latin typeface="Calibri" pitchFamily="34" charset="0"/>
                <a:ea typeface="Calibri" pitchFamily="34" charset="-122"/>
                <a:cs typeface="Calibri" pitchFamily="34" charset="-120"/>
              </a:rPr>
              <a:t>Which is good, because we don't have any.</a:t>
            </a:r>
            <a:endParaRPr lang="en-US" sz="1200" dirty="0"/>
          </a:p>
        </p:txBody>
      </p:sp>
      <p:sp>
        <p:nvSpPr>
          <p:cNvPr id="11" name="Shape 9"/>
          <p:cNvSpPr/>
          <p:nvPr/>
        </p:nvSpPr>
        <p:spPr>
          <a:xfrm>
            <a:off x="6172200" y="1143000"/>
            <a:ext cx="5486400" cy="4937760"/>
          </a:xfrm>
          <a:prstGeom prst="rect">
            <a:avLst/>
          </a:prstGeom>
          <a:solidFill>
            <a:srgbClr val="FFFFFF"/>
          </a:solidFill>
          <a:ln w="12700">
            <a:solidFill>
              <a:srgbClr val="64748B"/>
            </a:solidFill>
            <a:prstDash val="solid"/>
          </a:ln>
        </p:spPr>
        <p:txBody>
          <a:bodyPr/>
          <a:lstStyle/>
          <a:p>
            <a:endParaRPr lang="en-US"/>
          </a:p>
        </p:txBody>
      </p:sp>
      <p:sp>
        <p:nvSpPr>
          <p:cNvPr id="12" name="Text 10"/>
          <p:cNvSpPr/>
          <p:nvPr/>
        </p:nvSpPr>
        <p:spPr>
          <a:xfrm>
            <a:off x="6446520" y="1280160"/>
            <a:ext cx="5029200" cy="274320"/>
          </a:xfrm>
          <a:prstGeom prst="rect">
            <a:avLst/>
          </a:prstGeom>
          <a:noFill/>
          <a:ln/>
        </p:spPr>
        <p:txBody>
          <a:bodyPr wrap="square" lIns="0" tIns="0" rIns="0" bIns="0" rtlCol="0" anchor="ctr"/>
          <a:lstStyle/>
          <a:p>
            <a:pPr marL="0" indent="0">
              <a:buNone/>
            </a:pPr>
            <a:r>
              <a:rPr lang="en-US" sz="1100" b="1" kern="0" spc="300" dirty="0">
                <a:solidFill>
                  <a:srgbClr val="64748B"/>
                </a:solidFill>
                <a:latin typeface="Calibri" pitchFamily="34" charset="0"/>
                <a:ea typeface="Calibri" pitchFamily="34" charset="-122"/>
                <a:cs typeface="Calibri" pitchFamily="34" charset="-120"/>
              </a:rPr>
              <a:t>FINE-TUNED BERT  ·  REJECTED</a:t>
            </a:r>
            <a:endParaRPr lang="en-US" sz="1100" dirty="0"/>
          </a:p>
        </p:txBody>
      </p:sp>
      <p:sp>
        <p:nvSpPr>
          <p:cNvPr id="13" name="Text 11"/>
          <p:cNvSpPr/>
          <p:nvPr/>
        </p:nvSpPr>
        <p:spPr>
          <a:xfrm>
            <a:off x="6446520" y="1554480"/>
            <a:ext cx="5029200" cy="41148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e.g. spaCy or HuggingFace token classifier</a:t>
            </a:r>
            <a:endParaRPr lang="en-US" sz="1600" dirty="0"/>
          </a:p>
        </p:txBody>
      </p:sp>
      <p:sp>
        <p:nvSpPr>
          <p:cNvPr id="14" name="Text 12"/>
          <p:cNvSpPr/>
          <p:nvPr/>
        </p:nvSpPr>
        <p:spPr>
          <a:xfrm>
            <a:off x="6446520" y="2103120"/>
            <a:ext cx="5029200" cy="3886200"/>
          </a:xfrm>
          <a:prstGeom prst="rect">
            <a:avLst/>
          </a:prstGeom>
          <a:noFill/>
          <a:ln/>
        </p:spPr>
        <p:txBody>
          <a:bodyPr wrap="square" lIns="0" tIns="0" rIns="0" bIns="0" rtlCol="0" anchor="t"/>
          <a:lstStyle/>
          <a:p>
            <a:pPr marL="0" indent="0">
              <a:spcAft>
                <a:spcPts val="800"/>
              </a:spcAft>
              <a:buNone/>
            </a:pPr>
            <a:r>
              <a:rPr lang="en-US" sz="1200" b="1" dirty="0">
                <a:solidFill>
                  <a:srgbClr val="1E293B"/>
                </a:solidFill>
                <a:latin typeface="Calibri" pitchFamily="34" charset="0"/>
                <a:ea typeface="Calibri" pitchFamily="34" charset="-122"/>
                <a:cs typeface="Calibri" pitchFamily="34" charset="-120"/>
              </a:rPr>
              <a:t>Needs labeled examples. </a:t>
            </a:r>
            <a:r>
              <a:rPr lang="en-US" sz="1200" dirty="0">
                <a:solidFill>
                  <a:srgbClr val="1E293B"/>
                </a:solidFill>
                <a:latin typeface="Calibri" pitchFamily="34" charset="0"/>
                <a:ea typeface="Calibri" pitchFamily="34" charset="-122"/>
                <a:cs typeface="Calibri" pitchFamily="34" charset="-120"/>
              </a:rPr>
              <a:t>Building a few hundred labeled remarks would consume the entire 3-day budget — for an outcome no better than rules.</a:t>
            </a:r>
            <a:endParaRPr lang="en-US" sz="1200" dirty="0"/>
          </a:p>
          <a:p>
            <a:pPr marL="0" indent="0">
              <a:spcAft>
                <a:spcPts val="800"/>
              </a:spcAft>
              <a:buNone/>
            </a:pPr>
            <a:r>
              <a:rPr lang="en-US" sz="1200" b="1" dirty="0">
                <a:solidFill>
                  <a:srgbClr val="1E293B"/>
                </a:solidFill>
                <a:latin typeface="Calibri" pitchFamily="34" charset="0"/>
                <a:ea typeface="Calibri" pitchFamily="34" charset="-122"/>
                <a:cs typeface="Calibri" pitchFamily="34" charset="-120"/>
              </a:rPr>
              <a:t>Open-vocabulary is its strength. </a:t>
            </a:r>
            <a:r>
              <a:rPr lang="en-US" sz="1200" dirty="0">
                <a:solidFill>
                  <a:srgbClr val="1E293B"/>
                </a:solidFill>
                <a:latin typeface="Calibri" pitchFamily="34" charset="0"/>
                <a:ea typeface="Calibri" pitchFamily="34" charset="-122"/>
                <a:cs typeface="Calibri" pitchFamily="34" charset="-120"/>
              </a:rPr>
              <a:t>But our domain isn't open-vocabulary. The vocabulary is fixed — using a model designed for surprise vocabulary is a mismatch.</a:t>
            </a:r>
            <a:endParaRPr lang="en-US" sz="1200" dirty="0"/>
          </a:p>
          <a:p>
            <a:pPr marL="0" indent="0">
              <a:spcAft>
                <a:spcPts val="800"/>
              </a:spcAft>
              <a:buNone/>
            </a:pPr>
            <a:r>
              <a:rPr lang="en-US" sz="1200" b="1" dirty="0">
                <a:solidFill>
                  <a:srgbClr val="1E293B"/>
                </a:solidFill>
                <a:latin typeface="Calibri" pitchFamily="34" charset="0"/>
                <a:ea typeface="Calibri" pitchFamily="34" charset="-122"/>
                <a:cs typeface="Calibri" pitchFamily="34" charset="-120"/>
              </a:rPr>
              <a:t>Hard to debug. </a:t>
            </a:r>
            <a:r>
              <a:rPr lang="en-US" sz="1200" dirty="0">
                <a:solidFill>
                  <a:srgbClr val="1E293B"/>
                </a:solidFill>
                <a:latin typeface="Calibri" pitchFamily="34" charset="0"/>
                <a:ea typeface="Calibri" pitchFamily="34" charset="-122"/>
                <a:cs typeface="Calibri" pitchFamily="34" charset="-120"/>
              </a:rPr>
              <a:t>When it misses, you can't tell why. With rules, the failing regex is right there.</a:t>
            </a:r>
            <a:endParaRPr lang="en-US" sz="1200" dirty="0"/>
          </a:p>
          <a:p>
            <a:pPr marL="0" indent="0">
              <a:spcAft>
                <a:spcPts val="800"/>
              </a:spcAft>
              <a:buNone/>
            </a:pPr>
            <a:r>
              <a:rPr lang="en-US" sz="1200" b="1" dirty="0">
                <a:solidFill>
                  <a:srgbClr val="1E293B"/>
                </a:solidFill>
                <a:latin typeface="Calibri" pitchFamily="34" charset="0"/>
                <a:ea typeface="Calibri" pitchFamily="34" charset="-122"/>
                <a:cs typeface="Calibri" pitchFamily="34" charset="-120"/>
              </a:rPr>
              <a:t>Costlier per inference. </a:t>
            </a:r>
            <a:r>
              <a:rPr lang="en-US" sz="1200" dirty="0">
                <a:solidFill>
                  <a:srgbClr val="1E293B"/>
                </a:solidFill>
                <a:latin typeface="Calibri" pitchFamily="34" charset="0"/>
                <a:ea typeface="Calibri" pitchFamily="34" charset="-122"/>
                <a:cs typeface="Calibri" pitchFamily="34" charset="-120"/>
              </a:rPr>
              <a:t>And gives a false sense of generality.</a:t>
            </a:r>
            <a:endParaRPr lang="en-US" sz="1200" dirty="0"/>
          </a:p>
        </p:txBody>
      </p:sp>
      <p:sp>
        <p:nvSpPr>
          <p:cNvPr id="15" name="Shape 13"/>
          <p:cNvSpPr/>
          <p:nvPr/>
        </p:nvSpPr>
        <p:spPr>
          <a:xfrm>
            <a:off x="502920" y="6263640"/>
            <a:ext cx="11155680" cy="228600"/>
          </a:xfrm>
          <a:prstGeom prst="rect">
            <a:avLst/>
          </a:prstGeom>
          <a:solidFill>
            <a:srgbClr val="21295C"/>
          </a:solidFill>
          <a:ln w="12700">
            <a:solidFill>
              <a:srgbClr val="21295C"/>
            </a:solidFill>
            <a:prstDash val="solid"/>
          </a:ln>
        </p:spPr>
        <p:txBody>
          <a:bodyPr/>
          <a:lstStyle/>
          <a:p>
            <a:endParaRPr lang="en-US"/>
          </a:p>
        </p:txBody>
      </p:sp>
      <p:sp>
        <p:nvSpPr>
          <p:cNvPr id="16" name="Text 14"/>
          <p:cNvSpPr/>
          <p:nvPr/>
        </p:nvSpPr>
        <p:spPr>
          <a:xfrm>
            <a:off x="777240" y="6272784"/>
            <a:ext cx="10607040" cy="210312"/>
          </a:xfrm>
          <a:prstGeom prst="rect">
            <a:avLst/>
          </a:prstGeom>
          <a:noFill/>
          <a:ln/>
        </p:spPr>
        <p:txBody>
          <a:bodyPr wrap="square" lIns="0" tIns="0" rIns="0" bIns="0" rtlCol="0" anchor="ctr"/>
          <a:lstStyle/>
          <a:p>
            <a:pPr marL="0" indent="0">
              <a:buNone/>
            </a:pPr>
            <a:r>
              <a:rPr lang="en-US" sz="1000" b="1" kern="0" spc="300" dirty="0">
                <a:solidFill>
                  <a:srgbClr val="F97316"/>
                </a:solidFill>
                <a:latin typeface="Calibri" pitchFamily="34" charset="0"/>
                <a:ea typeface="Calibri" pitchFamily="34" charset="-122"/>
                <a:cs typeface="Calibri" pitchFamily="34" charset="-120"/>
              </a:rPr>
              <a:t>RESULT  </a:t>
            </a:r>
            <a:r>
              <a:rPr lang="en-US" sz="1100" dirty="0">
                <a:solidFill>
                  <a:srgbClr val="FFFFFF"/>
                </a:solidFill>
                <a:latin typeface="Calibri" pitchFamily="34" charset="0"/>
                <a:ea typeface="Calibri" pitchFamily="34" charset="-122"/>
                <a:cs typeface="Calibri" pitchFamily="34" charset="-120"/>
              </a:rPr>
              <a:t>31,201 entities extracted across 5 types — auditable, reproducible, with zero training cost.</a:t>
            </a:r>
            <a:endParaRPr lang="en-US" sz="1000" dirty="0"/>
          </a:p>
        </p:txBody>
      </p:sp>
      <p:sp>
        <p:nvSpPr>
          <p:cNvPr id="17" name="Text 15"/>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Ayxan Muxtar  ·  eiLink RA-DS 2026</a:t>
            </a:r>
            <a:endParaRPr lang="en-US" sz="900" dirty="0"/>
          </a:p>
        </p:txBody>
      </p:sp>
      <p:sp>
        <p:nvSpPr>
          <p:cNvPr id="18" name="Text 16"/>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1C7293"/>
          </a:solidFill>
          <a:ln w="12700">
            <a:solidFill>
              <a:srgbClr val="1C7293"/>
            </a:solidFill>
            <a:prstDash val="solid"/>
          </a:ln>
        </p:spPr>
        <p:txBody>
          <a:bodyPr/>
          <a:lstStyle/>
          <a:p>
            <a:endParaRPr lang="en-US"/>
          </a:p>
        </p:txBody>
      </p:sp>
      <p:sp>
        <p:nvSpPr>
          <p:cNvPr id="3" name="Text 1"/>
          <p:cNvSpPr/>
          <p:nvPr/>
        </p:nvSpPr>
        <p:spPr>
          <a:xfrm>
            <a:off x="502920" y="228600"/>
            <a:ext cx="548640" cy="457200"/>
          </a:xfrm>
          <a:prstGeom prst="rect">
            <a:avLst/>
          </a:prstGeom>
          <a:noFill/>
          <a:ln/>
        </p:spPr>
        <p:txBody>
          <a:bodyPr wrap="square" lIns="0" tIns="0" rIns="0" bIns="0" rtlCol="0" anchor="ctr"/>
          <a:lstStyle/>
          <a:p>
            <a:pPr marL="0" indent="0">
              <a:buNone/>
            </a:pPr>
            <a:r>
              <a:rPr lang="en-US" sz="2800" b="1" dirty="0">
                <a:solidFill>
                  <a:srgbClr val="1C7293"/>
                </a:solidFill>
                <a:latin typeface="Calibri" pitchFamily="34" charset="0"/>
                <a:ea typeface="Calibri" pitchFamily="34" charset="-122"/>
                <a:cs typeface="Calibri" pitchFamily="34" charset="-120"/>
              </a:rPr>
              <a:t>13</a:t>
            </a:r>
            <a:endParaRPr lang="en-US" sz="2800" dirty="0"/>
          </a:p>
        </p:txBody>
      </p:sp>
      <p:sp>
        <p:nvSpPr>
          <p:cNvPr id="4" name="Text 2"/>
          <p:cNvSpPr/>
          <p:nvPr/>
        </p:nvSpPr>
        <p:spPr>
          <a:xfrm>
            <a:off x="1097280" y="228600"/>
            <a:ext cx="1060704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Activity classifier: priority tiers, not a flat label set</a:t>
            </a:r>
            <a:endParaRPr lang="en-US" sz="2600" dirty="0"/>
          </a:p>
        </p:txBody>
      </p:sp>
      <p:sp>
        <p:nvSpPr>
          <p:cNvPr id="5" name="Text 3"/>
          <p:cNvSpPr/>
          <p:nvPr/>
        </p:nvSpPr>
        <p:spPr>
          <a:xfrm>
            <a:off x="1097280" y="713232"/>
            <a:ext cx="1060704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Real remarks describe multiple activities at once</a:t>
            </a:r>
            <a:endParaRPr lang="en-US" sz="1300" dirty="0"/>
          </a:p>
        </p:txBody>
      </p:sp>
      <p:sp>
        <p:nvSpPr>
          <p:cNvPr id="6" name="Text 4"/>
          <p:cNvSpPr/>
          <p:nvPr/>
        </p:nvSpPr>
        <p:spPr>
          <a:xfrm>
            <a:off x="502920" y="1143000"/>
            <a:ext cx="10972800" cy="274320"/>
          </a:xfrm>
          <a:prstGeom prst="rect">
            <a:avLst/>
          </a:prstGeom>
          <a:noFill/>
          <a:ln/>
        </p:spPr>
        <p:txBody>
          <a:bodyPr wrap="square" lIns="0" tIns="0" rIns="0" bIns="0" rtlCol="0" anchor="ctr"/>
          <a:lstStyle/>
          <a:p>
            <a:pPr marL="0" indent="0">
              <a:buNone/>
            </a:pPr>
            <a:r>
              <a:rPr lang="en-US" sz="1100" b="1" kern="0" spc="300" dirty="0">
                <a:solidFill>
                  <a:srgbClr val="1C7293"/>
                </a:solidFill>
                <a:latin typeface="Calibri" pitchFamily="34" charset="0"/>
                <a:ea typeface="Calibri" pitchFamily="34" charset="-122"/>
                <a:cs typeface="Calibri" pitchFamily="34" charset="-120"/>
              </a:rPr>
              <a:t>THE PROBLEM WITH FLAT LABELS</a:t>
            </a:r>
            <a:endParaRPr lang="en-US" sz="1100" dirty="0"/>
          </a:p>
        </p:txBody>
      </p:sp>
      <p:sp>
        <p:nvSpPr>
          <p:cNvPr id="7" name="Shape 5"/>
          <p:cNvSpPr/>
          <p:nvPr/>
        </p:nvSpPr>
        <p:spPr>
          <a:xfrm>
            <a:off x="502920" y="1417320"/>
            <a:ext cx="11155680" cy="914400"/>
          </a:xfrm>
          <a:prstGeom prst="rect">
            <a:avLst/>
          </a:prstGeom>
          <a:solidFill>
            <a:srgbClr val="E6F1F7"/>
          </a:solidFill>
          <a:ln w="12700">
            <a:solidFill>
              <a:srgbClr val="E6F1F7"/>
            </a:solidFill>
            <a:prstDash val="solid"/>
          </a:ln>
        </p:spPr>
        <p:txBody>
          <a:bodyPr/>
          <a:lstStyle/>
          <a:p>
            <a:endParaRPr lang="en-US"/>
          </a:p>
        </p:txBody>
      </p:sp>
      <p:sp>
        <p:nvSpPr>
          <p:cNvPr id="8" name="Text 6"/>
          <p:cNvSpPr/>
          <p:nvPr/>
        </p:nvSpPr>
        <p:spPr>
          <a:xfrm>
            <a:off x="777240" y="1554480"/>
            <a:ext cx="10607040" cy="777240"/>
          </a:xfrm>
          <a:prstGeom prst="rect">
            <a:avLst/>
          </a:prstGeom>
          <a:noFill/>
          <a:ln/>
        </p:spPr>
        <p:txBody>
          <a:bodyPr wrap="square" lIns="0" tIns="0" rIns="0" bIns="0" rtlCol="0" anchor="ctr"/>
          <a:lstStyle/>
          <a:p>
            <a:pPr marL="0" indent="0">
              <a:buNone/>
            </a:pPr>
            <a:r>
              <a:rPr lang="en-US" sz="1200" i="1" dirty="0">
                <a:solidFill>
                  <a:srgbClr val="1E293B"/>
                </a:solidFill>
                <a:latin typeface="Calibri" pitchFamily="34" charset="0"/>
                <a:ea typeface="Calibri" pitchFamily="34" charset="-122"/>
                <a:cs typeface="Calibri" pitchFamily="34" charset="-120"/>
              </a:rPr>
              <a:t>A single remark like  "Mud pumps out of service. Repaired pumps. Wait on parts 2 hours."  covers three activities: an EQUIPMENT_FAILURE, a REPAIR, and a WAIT. Forcing one label loses information. So I let multiple labels co-exist — but that creates a new problem: a remark can match many rules, and we need a sensible primary label.</a:t>
            </a:r>
            <a:endParaRPr lang="en-US" sz="1200" dirty="0"/>
          </a:p>
        </p:txBody>
      </p:sp>
      <p:sp>
        <p:nvSpPr>
          <p:cNvPr id="9" name="Text 7"/>
          <p:cNvSpPr/>
          <p:nvPr/>
        </p:nvSpPr>
        <p:spPr>
          <a:xfrm>
            <a:off x="502920" y="2606040"/>
            <a:ext cx="10972800" cy="274320"/>
          </a:xfrm>
          <a:prstGeom prst="rect">
            <a:avLst/>
          </a:prstGeom>
          <a:noFill/>
          <a:ln/>
        </p:spPr>
        <p:txBody>
          <a:bodyPr wrap="square" lIns="0" tIns="0" rIns="0" bIns="0" rtlCol="0" anchor="ctr"/>
          <a:lstStyle/>
          <a:p>
            <a:pPr marL="0" indent="0">
              <a:buNone/>
            </a:pPr>
            <a:r>
              <a:rPr lang="en-US" sz="1100" b="1" kern="0" spc="300" dirty="0">
                <a:solidFill>
                  <a:srgbClr val="1C7293"/>
                </a:solidFill>
                <a:latin typeface="Calibri" pitchFamily="34" charset="0"/>
                <a:ea typeface="Calibri" pitchFamily="34" charset="-122"/>
                <a:cs typeface="Calibri" pitchFamily="34" charset="-120"/>
              </a:rPr>
              <a:t>THE SOLUTION — PRIORITY TIERS</a:t>
            </a:r>
            <a:endParaRPr lang="en-US" sz="1100" dirty="0"/>
          </a:p>
        </p:txBody>
      </p:sp>
      <p:sp>
        <p:nvSpPr>
          <p:cNvPr id="10" name="Shape 8"/>
          <p:cNvSpPr/>
          <p:nvPr/>
        </p:nvSpPr>
        <p:spPr>
          <a:xfrm>
            <a:off x="502920" y="2926080"/>
            <a:ext cx="640080" cy="594360"/>
          </a:xfrm>
          <a:prstGeom prst="rect">
            <a:avLst/>
          </a:prstGeom>
          <a:solidFill>
            <a:srgbClr val="DC2626"/>
          </a:solidFill>
          <a:ln w="12700">
            <a:solidFill>
              <a:srgbClr val="DC2626"/>
            </a:solidFill>
            <a:prstDash val="solid"/>
          </a:ln>
        </p:spPr>
        <p:txBody>
          <a:bodyPr/>
          <a:lstStyle/>
          <a:p>
            <a:endParaRPr lang="en-US"/>
          </a:p>
        </p:txBody>
      </p:sp>
      <p:sp>
        <p:nvSpPr>
          <p:cNvPr id="11" name="Text 9"/>
          <p:cNvSpPr/>
          <p:nvPr/>
        </p:nvSpPr>
        <p:spPr>
          <a:xfrm>
            <a:off x="502920" y="2926080"/>
            <a:ext cx="64008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90</a:t>
            </a:r>
            <a:endParaRPr lang="en-US" sz="1600" dirty="0"/>
          </a:p>
        </p:txBody>
      </p:sp>
      <p:sp>
        <p:nvSpPr>
          <p:cNvPr id="12" name="Text 10"/>
          <p:cNvSpPr/>
          <p:nvPr/>
        </p:nvSpPr>
        <p:spPr>
          <a:xfrm>
            <a:off x="1280160" y="2926080"/>
            <a:ext cx="10332720" cy="274320"/>
          </a:xfrm>
          <a:prstGeom prst="rect">
            <a:avLst/>
          </a:prstGeom>
          <a:noFill/>
          <a:ln/>
        </p:spPr>
        <p:txBody>
          <a:bodyPr wrap="square" lIns="0" tIns="0" rIns="0" bIns="0" rtlCol="0" anchor="t"/>
          <a:lstStyle/>
          <a:p>
            <a:pPr marL="0" indent="0">
              <a:buNone/>
            </a:pPr>
            <a:r>
              <a:rPr lang="en-US" sz="1200" b="1" dirty="0">
                <a:solidFill>
                  <a:srgbClr val="DC2626"/>
                </a:solidFill>
                <a:latin typeface="Calibri" pitchFamily="34" charset="0"/>
                <a:ea typeface="Calibri" pitchFamily="34" charset="-122"/>
                <a:cs typeface="Calibri" pitchFamily="34" charset="-120"/>
              </a:rPr>
              <a:t>WELL_CONTROL  ·  kick, influx, well control</a:t>
            </a:r>
            <a:endParaRPr lang="en-US" sz="1200" dirty="0"/>
          </a:p>
        </p:txBody>
      </p:sp>
      <p:sp>
        <p:nvSpPr>
          <p:cNvPr id="13" name="Text 11"/>
          <p:cNvSpPr/>
          <p:nvPr/>
        </p:nvSpPr>
        <p:spPr>
          <a:xfrm>
            <a:off x="1280160" y="3218688"/>
            <a:ext cx="10332720" cy="292608"/>
          </a:xfrm>
          <a:prstGeom prst="rect">
            <a:avLst/>
          </a:prstGeom>
          <a:noFill/>
          <a:ln/>
        </p:spPr>
        <p:txBody>
          <a:bodyPr wrap="square" lIns="0" tIns="0" rIns="0" bIns="0" rtlCol="0" anchor="t"/>
          <a:lstStyle/>
          <a:p>
            <a:pPr marL="0" indent="0">
              <a:buNone/>
            </a:pPr>
            <a:r>
              <a:rPr lang="en-US" sz="1100" i="1" dirty="0">
                <a:solidFill>
                  <a:srgbClr val="1E293B"/>
                </a:solidFill>
                <a:latin typeface="Calibri" pitchFamily="34" charset="0"/>
                <a:ea typeface="Calibri" pitchFamily="34" charset="-122"/>
                <a:cs typeface="Calibri" pitchFamily="34" charset="-120"/>
              </a:rPr>
              <a:t>Safety-critical. If the remark mentions a kick, that overrides any other activity in the row.</a:t>
            </a:r>
            <a:endParaRPr lang="en-US" sz="1100" dirty="0"/>
          </a:p>
        </p:txBody>
      </p:sp>
      <p:sp>
        <p:nvSpPr>
          <p:cNvPr id="14" name="Shape 12"/>
          <p:cNvSpPr/>
          <p:nvPr/>
        </p:nvSpPr>
        <p:spPr>
          <a:xfrm>
            <a:off x="502920" y="3611880"/>
            <a:ext cx="640080" cy="594360"/>
          </a:xfrm>
          <a:prstGeom prst="rect">
            <a:avLst/>
          </a:prstGeom>
          <a:solidFill>
            <a:srgbClr val="F97316"/>
          </a:solidFill>
          <a:ln w="12700">
            <a:solidFill>
              <a:srgbClr val="F97316"/>
            </a:solidFill>
            <a:prstDash val="solid"/>
          </a:ln>
        </p:spPr>
        <p:txBody>
          <a:bodyPr/>
          <a:lstStyle/>
          <a:p>
            <a:endParaRPr lang="en-US"/>
          </a:p>
        </p:txBody>
      </p:sp>
      <p:sp>
        <p:nvSpPr>
          <p:cNvPr id="15" name="Text 13"/>
          <p:cNvSpPr/>
          <p:nvPr/>
        </p:nvSpPr>
        <p:spPr>
          <a:xfrm>
            <a:off x="502920" y="3611880"/>
            <a:ext cx="64008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70</a:t>
            </a:r>
            <a:endParaRPr lang="en-US" sz="1600" dirty="0"/>
          </a:p>
        </p:txBody>
      </p:sp>
      <p:sp>
        <p:nvSpPr>
          <p:cNvPr id="16" name="Text 14"/>
          <p:cNvSpPr/>
          <p:nvPr/>
        </p:nvSpPr>
        <p:spPr>
          <a:xfrm>
            <a:off x="1280160" y="3611880"/>
            <a:ext cx="10332720" cy="274320"/>
          </a:xfrm>
          <a:prstGeom prst="rect">
            <a:avLst/>
          </a:prstGeom>
          <a:noFill/>
          <a:ln/>
        </p:spPr>
        <p:txBody>
          <a:bodyPr wrap="square" lIns="0" tIns="0" rIns="0" bIns="0" rtlCol="0" anchor="t"/>
          <a:lstStyle/>
          <a:p>
            <a:pPr marL="0" indent="0">
              <a:buNone/>
            </a:pPr>
            <a:r>
              <a:rPr lang="en-US" sz="1200" b="1" dirty="0">
                <a:solidFill>
                  <a:srgbClr val="F97316"/>
                </a:solidFill>
                <a:latin typeface="Calibri" pitchFamily="34" charset="0"/>
                <a:ea typeface="Calibri" pitchFamily="34" charset="-122"/>
                <a:cs typeface="Calibri" pitchFamily="34" charset="-120"/>
              </a:rPr>
              <a:t>STUCK_PIPE  ·  TIGHT_HOLE  ·  EQUIPMENT_FAILURE  ·  FISHING</a:t>
            </a:r>
            <a:endParaRPr lang="en-US" sz="1200" dirty="0"/>
          </a:p>
        </p:txBody>
      </p:sp>
      <p:sp>
        <p:nvSpPr>
          <p:cNvPr id="17" name="Text 15"/>
          <p:cNvSpPr/>
          <p:nvPr/>
        </p:nvSpPr>
        <p:spPr>
          <a:xfrm>
            <a:off x="1280160" y="3904488"/>
            <a:ext cx="10332720" cy="292608"/>
          </a:xfrm>
          <a:prstGeom prst="rect">
            <a:avLst/>
          </a:prstGeom>
          <a:noFill/>
          <a:ln/>
        </p:spPr>
        <p:txBody>
          <a:bodyPr wrap="square" lIns="0" tIns="0" rIns="0" bIns="0" rtlCol="0" anchor="t"/>
          <a:lstStyle/>
          <a:p>
            <a:pPr marL="0" indent="0">
              <a:buNone/>
            </a:pPr>
            <a:r>
              <a:rPr lang="en-US" sz="1100" i="1" dirty="0">
                <a:solidFill>
                  <a:srgbClr val="1E293B"/>
                </a:solidFill>
                <a:latin typeface="Calibri" pitchFamily="34" charset="0"/>
                <a:ea typeface="Calibri" pitchFamily="34" charset="-122"/>
                <a:cs typeface="Calibri" pitchFamily="34" charset="-120"/>
              </a:rPr>
              <a:t>Operational incidents — they describe what made the day deviate from plan, more important than what was planned.</a:t>
            </a:r>
            <a:endParaRPr lang="en-US" sz="1100" dirty="0"/>
          </a:p>
        </p:txBody>
      </p:sp>
      <p:sp>
        <p:nvSpPr>
          <p:cNvPr id="18" name="Shape 16"/>
          <p:cNvSpPr/>
          <p:nvPr/>
        </p:nvSpPr>
        <p:spPr>
          <a:xfrm>
            <a:off x="502920" y="4297680"/>
            <a:ext cx="640080" cy="594360"/>
          </a:xfrm>
          <a:prstGeom prst="rect">
            <a:avLst/>
          </a:prstGeom>
          <a:solidFill>
            <a:srgbClr val="065A82"/>
          </a:solidFill>
          <a:ln w="12700">
            <a:solidFill>
              <a:srgbClr val="065A82"/>
            </a:solidFill>
            <a:prstDash val="solid"/>
          </a:ln>
        </p:spPr>
        <p:txBody>
          <a:bodyPr/>
          <a:lstStyle/>
          <a:p>
            <a:endParaRPr lang="en-US"/>
          </a:p>
        </p:txBody>
      </p:sp>
      <p:sp>
        <p:nvSpPr>
          <p:cNvPr id="19" name="Text 17"/>
          <p:cNvSpPr/>
          <p:nvPr/>
        </p:nvSpPr>
        <p:spPr>
          <a:xfrm>
            <a:off x="502920" y="4297680"/>
            <a:ext cx="64008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50</a:t>
            </a:r>
            <a:endParaRPr lang="en-US" sz="1600" dirty="0"/>
          </a:p>
        </p:txBody>
      </p:sp>
      <p:sp>
        <p:nvSpPr>
          <p:cNvPr id="20" name="Text 18"/>
          <p:cNvSpPr/>
          <p:nvPr/>
        </p:nvSpPr>
        <p:spPr>
          <a:xfrm>
            <a:off x="1280160" y="4297680"/>
            <a:ext cx="10332720" cy="274320"/>
          </a:xfrm>
          <a:prstGeom prst="rect">
            <a:avLst/>
          </a:prstGeom>
          <a:noFill/>
          <a:ln/>
        </p:spPr>
        <p:txBody>
          <a:bodyPr wrap="square" lIns="0" tIns="0" rIns="0" bIns="0" rtlCol="0" anchor="t"/>
          <a:lstStyle/>
          <a:p>
            <a:pPr marL="0" indent="0">
              <a:buNone/>
            </a:pPr>
            <a:r>
              <a:rPr lang="en-US" sz="1200" b="1" dirty="0">
                <a:solidFill>
                  <a:srgbClr val="065A82"/>
                </a:solidFill>
                <a:latin typeface="Calibri" pitchFamily="34" charset="0"/>
                <a:ea typeface="Calibri" pitchFamily="34" charset="-122"/>
                <a:cs typeface="Calibri" pitchFamily="34" charset="-120"/>
              </a:rPr>
              <a:t>TRIP_IN  ·  TRIP_OUT  ·  CIRCULATE  ·  DRILL  ·  CASING  ·  CEMENT</a:t>
            </a:r>
            <a:endParaRPr lang="en-US" sz="1200" dirty="0"/>
          </a:p>
        </p:txBody>
      </p:sp>
      <p:sp>
        <p:nvSpPr>
          <p:cNvPr id="21" name="Text 19"/>
          <p:cNvSpPr/>
          <p:nvPr/>
        </p:nvSpPr>
        <p:spPr>
          <a:xfrm>
            <a:off x="1280160" y="4590288"/>
            <a:ext cx="10332720" cy="292608"/>
          </a:xfrm>
          <a:prstGeom prst="rect">
            <a:avLst/>
          </a:prstGeom>
          <a:noFill/>
          <a:ln/>
        </p:spPr>
        <p:txBody>
          <a:bodyPr wrap="square" lIns="0" tIns="0" rIns="0" bIns="0" rtlCol="0" anchor="t"/>
          <a:lstStyle/>
          <a:p>
            <a:pPr marL="0" indent="0">
              <a:buNone/>
            </a:pPr>
            <a:r>
              <a:rPr lang="en-US" sz="1100" i="1" dirty="0">
                <a:solidFill>
                  <a:srgbClr val="1E293B"/>
                </a:solidFill>
                <a:latin typeface="Calibri" pitchFamily="34" charset="0"/>
                <a:ea typeface="Calibri" pitchFamily="34" charset="-122"/>
                <a:cs typeface="Calibri" pitchFamily="34" charset="-120"/>
              </a:rPr>
              <a:t>Major operational categories — the day's actual work.</a:t>
            </a:r>
            <a:endParaRPr lang="en-US" sz="1100" dirty="0"/>
          </a:p>
        </p:txBody>
      </p:sp>
      <p:sp>
        <p:nvSpPr>
          <p:cNvPr id="22" name="Shape 20"/>
          <p:cNvSpPr/>
          <p:nvPr/>
        </p:nvSpPr>
        <p:spPr>
          <a:xfrm>
            <a:off x="502920" y="4983480"/>
            <a:ext cx="640080" cy="594360"/>
          </a:xfrm>
          <a:prstGeom prst="rect">
            <a:avLst/>
          </a:prstGeom>
          <a:solidFill>
            <a:srgbClr val="1C7293"/>
          </a:solidFill>
          <a:ln w="12700">
            <a:solidFill>
              <a:srgbClr val="1C7293"/>
            </a:solidFill>
            <a:prstDash val="solid"/>
          </a:ln>
        </p:spPr>
        <p:txBody>
          <a:bodyPr/>
          <a:lstStyle/>
          <a:p>
            <a:endParaRPr lang="en-US"/>
          </a:p>
        </p:txBody>
      </p:sp>
      <p:sp>
        <p:nvSpPr>
          <p:cNvPr id="23" name="Text 21"/>
          <p:cNvSpPr/>
          <p:nvPr/>
        </p:nvSpPr>
        <p:spPr>
          <a:xfrm>
            <a:off x="502920" y="4983480"/>
            <a:ext cx="64008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30</a:t>
            </a:r>
            <a:endParaRPr lang="en-US" sz="1600" dirty="0"/>
          </a:p>
        </p:txBody>
      </p:sp>
      <p:sp>
        <p:nvSpPr>
          <p:cNvPr id="24" name="Text 22"/>
          <p:cNvSpPr/>
          <p:nvPr/>
        </p:nvSpPr>
        <p:spPr>
          <a:xfrm>
            <a:off x="1280160" y="4983480"/>
            <a:ext cx="10332720" cy="274320"/>
          </a:xfrm>
          <a:prstGeom prst="rect">
            <a:avLst/>
          </a:prstGeom>
          <a:noFill/>
          <a:ln/>
        </p:spPr>
        <p:txBody>
          <a:bodyPr wrap="square" lIns="0" tIns="0" rIns="0" bIns="0" rtlCol="0" anchor="t"/>
          <a:lstStyle/>
          <a:p>
            <a:pPr marL="0" indent="0">
              <a:buNone/>
            </a:pPr>
            <a:r>
              <a:rPr lang="en-US" sz="1200" b="1" dirty="0">
                <a:solidFill>
                  <a:srgbClr val="1C7293"/>
                </a:solidFill>
                <a:latin typeface="Calibri" pitchFamily="34" charset="0"/>
                <a:ea typeface="Calibri" pitchFamily="34" charset="-122"/>
                <a:cs typeface="Calibri" pitchFamily="34" charset="-120"/>
              </a:rPr>
              <a:t>PRESSURE_TEST  ·  BOP  ·  SURVEY  ·  RIG_UP/DOWN  ·  MAKE_UP</a:t>
            </a:r>
            <a:endParaRPr lang="en-US" sz="1200" dirty="0"/>
          </a:p>
        </p:txBody>
      </p:sp>
      <p:sp>
        <p:nvSpPr>
          <p:cNvPr id="25" name="Text 23"/>
          <p:cNvSpPr/>
          <p:nvPr/>
        </p:nvSpPr>
        <p:spPr>
          <a:xfrm>
            <a:off x="1280160" y="5276088"/>
            <a:ext cx="10332720" cy="292608"/>
          </a:xfrm>
          <a:prstGeom prst="rect">
            <a:avLst/>
          </a:prstGeom>
          <a:noFill/>
          <a:ln/>
        </p:spPr>
        <p:txBody>
          <a:bodyPr wrap="square" lIns="0" tIns="0" rIns="0" bIns="0" rtlCol="0" anchor="t"/>
          <a:lstStyle/>
          <a:p>
            <a:pPr marL="0" indent="0">
              <a:buNone/>
            </a:pPr>
            <a:r>
              <a:rPr lang="en-US" sz="1100" i="1" dirty="0">
                <a:solidFill>
                  <a:srgbClr val="1E293B"/>
                </a:solidFill>
                <a:latin typeface="Calibri" pitchFamily="34" charset="0"/>
                <a:ea typeface="Calibri" pitchFamily="34" charset="-122"/>
                <a:cs typeface="Calibri" pitchFamily="34" charset="-120"/>
              </a:rPr>
              <a:t>Secondary / setup operations.</a:t>
            </a:r>
            <a:endParaRPr lang="en-US" sz="1100" dirty="0"/>
          </a:p>
        </p:txBody>
      </p:sp>
      <p:sp>
        <p:nvSpPr>
          <p:cNvPr id="26" name="Shape 24"/>
          <p:cNvSpPr/>
          <p:nvPr/>
        </p:nvSpPr>
        <p:spPr>
          <a:xfrm>
            <a:off x="502920" y="5669280"/>
            <a:ext cx="640080" cy="594360"/>
          </a:xfrm>
          <a:prstGeom prst="rect">
            <a:avLst/>
          </a:prstGeom>
          <a:solidFill>
            <a:srgbClr val="64748B"/>
          </a:solidFill>
          <a:ln w="12700">
            <a:solidFill>
              <a:srgbClr val="64748B"/>
            </a:solidFill>
            <a:prstDash val="solid"/>
          </a:ln>
        </p:spPr>
        <p:txBody>
          <a:bodyPr/>
          <a:lstStyle/>
          <a:p>
            <a:endParaRPr lang="en-US"/>
          </a:p>
        </p:txBody>
      </p:sp>
      <p:sp>
        <p:nvSpPr>
          <p:cNvPr id="27" name="Text 25"/>
          <p:cNvSpPr/>
          <p:nvPr/>
        </p:nvSpPr>
        <p:spPr>
          <a:xfrm>
            <a:off x="502920" y="5669280"/>
            <a:ext cx="64008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10</a:t>
            </a:r>
            <a:endParaRPr lang="en-US" sz="1600" dirty="0"/>
          </a:p>
        </p:txBody>
      </p:sp>
      <p:sp>
        <p:nvSpPr>
          <p:cNvPr id="28" name="Text 26"/>
          <p:cNvSpPr/>
          <p:nvPr/>
        </p:nvSpPr>
        <p:spPr>
          <a:xfrm>
            <a:off x="1280160" y="5669280"/>
            <a:ext cx="10332720" cy="274320"/>
          </a:xfrm>
          <a:prstGeom prst="rect">
            <a:avLst/>
          </a:prstGeom>
          <a:noFill/>
          <a:ln/>
        </p:spPr>
        <p:txBody>
          <a:bodyPr wrap="square" lIns="0" tIns="0" rIns="0" bIns="0" rtlCol="0" anchor="t"/>
          <a:lstStyle/>
          <a:p>
            <a:pPr marL="0" indent="0">
              <a:buNone/>
            </a:pPr>
            <a:r>
              <a:rPr lang="en-US" sz="1200" b="1" dirty="0">
                <a:solidFill>
                  <a:srgbClr val="64748B"/>
                </a:solidFill>
                <a:latin typeface="Calibri" pitchFamily="34" charset="0"/>
                <a:ea typeface="Calibri" pitchFamily="34" charset="-122"/>
                <a:cs typeface="Calibri" pitchFamily="34" charset="-120"/>
              </a:rPr>
              <a:t>REPAIR  ·  WAIT  ·  FLOW_CHECK  ·  TOOLBOX_TALK</a:t>
            </a:r>
            <a:endParaRPr lang="en-US" sz="1200" dirty="0"/>
          </a:p>
        </p:txBody>
      </p:sp>
      <p:sp>
        <p:nvSpPr>
          <p:cNvPr id="29" name="Text 27"/>
          <p:cNvSpPr/>
          <p:nvPr/>
        </p:nvSpPr>
        <p:spPr>
          <a:xfrm>
            <a:off x="1280160" y="5961888"/>
            <a:ext cx="10332720" cy="292608"/>
          </a:xfrm>
          <a:prstGeom prst="rect">
            <a:avLst/>
          </a:prstGeom>
          <a:noFill/>
          <a:ln/>
        </p:spPr>
        <p:txBody>
          <a:bodyPr wrap="square" lIns="0" tIns="0" rIns="0" bIns="0" rtlCol="0" anchor="t"/>
          <a:lstStyle/>
          <a:p>
            <a:pPr marL="0" indent="0">
              <a:buNone/>
            </a:pPr>
            <a:r>
              <a:rPr lang="en-US" sz="1100" i="1" dirty="0">
                <a:solidFill>
                  <a:srgbClr val="1E293B"/>
                </a:solidFill>
                <a:latin typeface="Calibri" pitchFamily="34" charset="0"/>
                <a:ea typeface="Calibri" pitchFamily="34" charset="-122"/>
                <a:cs typeface="Calibri" pitchFamily="34" charset="-120"/>
              </a:rPr>
              <a:t>Fillers — when nothing higher fires, these become the primary label.</a:t>
            </a:r>
            <a:endParaRPr lang="en-US" sz="1100" dirty="0"/>
          </a:p>
        </p:txBody>
      </p:sp>
      <p:sp>
        <p:nvSpPr>
          <p:cNvPr id="30" name="Text 28"/>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Ayxan Muxtar  ·  eiLink RA-DS 2026</a:t>
            </a:r>
            <a:endParaRPr lang="en-US" sz="900" dirty="0"/>
          </a:p>
        </p:txBody>
      </p:sp>
      <p:sp>
        <p:nvSpPr>
          <p:cNvPr id="31" name="Text 29"/>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1C7293"/>
          </a:solidFill>
          <a:ln w="12700">
            <a:solidFill>
              <a:srgbClr val="1C7293"/>
            </a:solidFill>
            <a:prstDash val="solid"/>
          </a:ln>
        </p:spPr>
        <p:txBody>
          <a:bodyPr/>
          <a:lstStyle/>
          <a:p>
            <a:endParaRPr lang="en-US"/>
          </a:p>
        </p:txBody>
      </p:sp>
      <p:sp>
        <p:nvSpPr>
          <p:cNvPr id="3" name="Text 1"/>
          <p:cNvSpPr/>
          <p:nvPr/>
        </p:nvSpPr>
        <p:spPr>
          <a:xfrm>
            <a:off x="502920" y="228600"/>
            <a:ext cx="548640" cy="457200"/>
          </a:xfrm>
          <a:prstGeom prst="rect">
            <a:avLst/>
          </a:prstGeom>
          <a:noFill/>
          <a:ln/>
        </p:spPr>
        <p:txBody>
          <a:bodyPr wrap="square" lIns="0" tIns="0" rIns="0" bIns="0" rtlCol="0" anchor="ctr"/>
          <a:lstStyle/>
          <a:p>
            <a:pPr marL="0" indent="0">
              <a:buNone/>
            </a:pPr>
            <a:r>
              <a:rPr lang="en-US" sz="2800" b="1" dirty="0">
                <a:solidFill>
                  <a:srgbClr val="1C7293"/>
                </a:solidFill>
                <a:latin typeface="Calibri" pitchFamily="34" charset="0"/>
                <a:ea typeface="Calibri" pitchFamily="34" charset="-122"/>
                <a:cs typeface="Calibri" pitchFamily="34" charset="-120"/>
              </a:rPr>
              <a:t>14</a:t>
            </a:r>
            <a:endParaRPr lang="en-US" sz="2800" dirty="0"/>
          </a:p>
        </p:txBody>
      </p:sp>
      <p:sp>
        <p:nvSpPr>
          <p:cNvPr id="4" name="Text 2"/>
          <p:cNvSpPr/>
          <p:nvPr/>
        </p:nvSpPr>
        <p:spPr>
          <a:xfrm>
            <a:off x="1097280" y="228600"/>
            <a:ext cx="1060704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TF-IDF keywords per report — same tool, smarter setup</a:t>
            </a:r>
            <a:endParaRPr lang="en-US" sz="2600" dirty="0"/>
          </a:p>
        </p:txBody>
      </p:sp>
      <p:sp>
        <p:nvSpPr>
          <p:cNvPr id="5" name="Text 3"/>
          <p:cNvSpPr/>
          <p:nvPr/>
        </p:nvSpPr>
        <p:spPr>
          <a:xfrm>
            <a:off x="1097280" y="713232"/>
            <a:ext cx="1060704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What I learned in Task 2 changed how I configured this</a:t>
            </a:r>
            <a:endParaRPr lang="en-US" sz="1300" dirty="0"/>
          </a:p>
        </p:txBody>
      </p:sp>
      <p:sp>
        <p:nvSpPr>
          <p:cNvPr id="6" name="Text 4"/>
          <p:cNvSpPr/>
          <p:nvPr/>
        </p:nvSpPr>
        <p:spPr>
          <a:xfrm>
            <a:off x="502920" y="1143000"/>
            <a:ext cx="10972800" cy="274320"/>
          </a:xfrm>
          <a:prstGeom prst="rect">
            <a:avLst/>
          </a:prstGeom>
          <a:noFill/>
          <a:ln/>
        </p:spPr>
        <p:txBody>
          <a:bodyPr wrap="square" lIns="0" tIns="0" rIns="0" bIns="0" rtlCol="0" anchor="ctr"/>
          <a:lstStyle/>
          <a:p>
            <a:pPr marL="0" indent="0">
              <a:buNone/>
            </a:pPr>
            <a:r>
              <a:rPr lang="en-US" sz="1100" b="1" kern="0" spc="300" dirty="0">
                <a:solidFill>
                  <a:srgbClr val="1C7293"/>
                </a:solidFill>
                <a:latin typeface="Calibri" pitchFamily="34" charset="0"/>
                <a:ea typeface="Calibri" pitchFamily="34" charset="-122"/>
                <a:cs typeface="Calibri" pitchFamily="34" charset="-120"/>
              </a:rPr>
              <a:t>CARRIED FORWARD FROM TASK 2</a:t>
            </a:r>
            <a:endParaRPr lang="en-US" sz="1100" dirty="0"/>
          </a:p>
        </p:txBody>
      </p:sp>
      <p:sp>
        <p:nvSpPr>
          <p:cNvPr id="7" name="Shape 5"/>
          <p:cNvSpPr/>
          <p:nvPr/>
        </p:nvSpPr>
        <p:spPr>
          <a:xfrm>
            <a:off x="502920" y="1417320"/>
            <a:ext cx="11155680" cy="868680"/>
          </a:xfrm>
          <a:prstGeom prst="rect">
            <a:avLst/>
          </a:prstGeom>
          <a:solidFill>
            <a:srgbClr val="E6F1F7"/>
          </a:solidFill>
          <a:ln w="12700">
            <a:solidFill>
              <a:srgbClr val="E6F1F7"/>
            </a:solidFill>
            <a:prstDash val="solid"/>
          </a:ln>
        </p:spPr>
        <p:txBody>
          <a:bodyPr/>
          <a:lstStyle/>
          <a:p>
            <a:endParaRPr lang="en-US"/>
          </a:p>
        </p:txBody>
      </p:sp>
      <p:sp>
        <p:nvSpPr>
          <p:cNvPr id="8" name="Text 6"/>
          <p:cNvSpPr/>
          <p:nvPr/>
        </p:nvSpPr>
        <p:spPr>
          <a:xfrm>
            <a:off x="777240" y="1508760"/>
            <a:ext cx="10607040" cy="73152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In Task 2, generic stopwords ("the", "of", "and") didn't hurt much because cosine similarity is dominated by content words anyway. For per-report keyword extraction it's the opposite: every report uses the same drilling boilerplate — rpm, lpm, MD, BHA, drilling, hole. These would dominate every report's top-N list and surface no signal.</a:t>
            </a:r>
            <a:endParaRPr lang="en-US" sz="1200" dirty="0"/>
          </a:p>
        </p:txBody>
      </p:sp>
      <p:sp>
        <p:nvSpPr>
          <p:cNvPr id="9" name="Text 7"/>
          <p:cNvSpPr/>
          <p:nvPr/>
        </p:nvSpPr>
        <p:spPr>
          <a:xfrm>
            <a:off x="502920" y="2514600"/>
            <a:ext cx="10972800" cy="274320"/>
          </a:xfrm>
          <a:prstGeom prst="rect">
            <a:avLst/>
          </a:prstGeom>
          <a:noFill/>
          <a:ln/>
        </p:spPr>
        <p:txBody>
          <a:bodyPr wrap="square" lIns="0" tIns="0" rIns="0" bIns="0" rtlCol="0" anchor="ctr"/>
          <a:lstStyle/>
          <a:p>
            <a:pPr marL="0" indent="0">
              <a:buNone/>
            </a:pPr>
            <a:r>
              <a:rPr lang="en-US" sz="1100" b="1" kern="0" spc="300" dirty="0">
                <a:solidFill>
                  <a:srgbClr val="1C7293"/>
                </a:solidFill>
                <a:latin typeface="Calibri" pitchFamily="34" charset="0"/>
                <a:ea typeface="Calibri" pitchFamily="34" charset="-122"/>
                <a:cs typeface="Calibri" pitchFamily="34" charset="-120"/>
              </a:rPr>
              <a:t>DOMAIN-SPECIFIC STOPLIST</a:t>
            </a:r>
            <a:endParaRPr lang="en-US" sz="1100" dirty="0"/>
          </a:p>
        </p:txBody>
      </p:sp>
      <p:sp>
        <p:nvSpPr>
          <p:cNvPr id="10" name="Shape 8"/>
          <p:cNvSpPr/>
          <p:nvPr/>
        </p:nvSpPr>
        <p:spPr>
          <a:xfrm>
            <a:off x="502920" y="2788920"/>
            <a:ext cx="11155680" cy="960120"/>
          </a:xfrm>
          <a:prstGeom prst="rect">
            <a:avLst/>
          </a:prstGeom>
          <a:solidFill>
            <a:srgbClr val="21295C"/>
          </a:solidFill>
          <a:ln w="12700">
            <a:solidFill>
              <a:srgbClr val="21295C"/>
            </a:solidFill>
            <a:prstDash val="solid"/>
          </a:ln>
        </p:spPr>
        <p:txBody>
          <a:bodyPr/>
          <a:lstStyle/>
          <a:p>
            <a:endParaRPr lang="en-US"/>
          </a:p>
        </p:txBody>
      </p:sp>
      <p:sp>
        <p:nvSpPr>
          <p:cNvPr id="11" name="Text 9"/>
          <p:cNvSpPr/>
          <p:nvPr/>
        </p:nvSpPr>
        <p:spPr>
          <a:xfrm>
            <a:off x="777240" y="2880360"/>
            <a:ext cx="10607040" cy="777240"/>
          </a:xfrm>
          <a:prstGeom prst="rect">
            <a:avLst/>
          </a:prstGeom>
          <a:noFill/>
          <a:ln/>
        </p:spPr>
        <p:txBody>
          <a:bodyPr wrap="square" lIns="0" tIns="0" rIns="0" bIns="0" rtlCol="0" anchor="ctr"/>
          <a:lstStyle/>
          <a:p>
            <a:pPr marL="0" indent="0">
              <a:buNone/>
            </a:pPr>
            <a:r>
              <a:rPr lang="en-US" sz="1100" dirty="0">
                <a:solidFill>
                  <a:srgbClr val="E6F1F7"/>
                </a:solidFill>
                <a:latin typeface="Courier New" pitchFamily="34" charset="0"/>
                <a:ea typeface="Courier New" pitchFamily="34" charset="-122"/>
                <a:cs typeface="Courier New" pitchFamily="34" charset="-120"/>
              </a:rPr>
              <a:t>DOMAIN_STOPWORDS = { 'rpm', 'lpm', 'bar', 'psi', 'mt', 'kn', 'knm', 'md', 'tvd',</a:t>
            </a:r>
            <a:endParaRPr lang="en-US" sz="1100" dirty="0"/>
          </a:p>
          <a:p>
            <a:pPr marL="0" indent="0">
              <a:buNone/>
            </a:pPr>
            <a:r>
              <a:rPr lang="en-US" sz="1100" dirty="0">
                <a:solidFill>
                  <a:srgbClr val="E6F1F7"/>
                </a:solidFill>
                <a:latin typeface="Courier New" pitchFamily="34" charset="0"/>
                <a:ea typeface="Courier New" pitchFamily="34" charset="-122"/>
                <a:cs typeface="Courier New" pitchFamily="34" charset="-120"/>
              </a:rPr>
              <a:t>                     'drilling', 'hole', 'bha', 'm', 'mm', 'cm', 'depth', 'made',</a:t>
            </a:r>
            <a:endParaRPr lang="en-US" sz="1100" dirty="0"/>
          </a:p>
          <a:p>
            <a:pPr marL="0" indent="0">
              <a:buNone/>
            </a:pPr>
            <a:r>
              <a:rPr lang="en-US" sz="1100" dirty="0">
                <a:solidFill>
                  <a:srgbClr val="E6F1F7"/>
                </a:solidFill>
                <a:latin typeface="Courier New" pitchFamily="34" charset="0"/>
                <a:ea typeface="Courier New" pitchFamily="34" charset="-122"/>
                <a:cs typeface="Courier New" pitchFamily="34" charset="-120"/>
              </a:rPr>
              <a:t>                     'set', 'pull', 'pumped', 'performed', 'continued', ... }</a:t>
            </a:r>
            <a:endParaRPr lang="en-US" sz="1100" dirty="0"/>
          </a:p>
        </p:txBody>
      </p:sp>
      <p:sp>
        <p:nvSpPr>
          <p:cNvPr id="12" name="Text 10"/>
          <p:cNvSpPr/>
          <p:nvPr/>
        </p:nvSpPr>
        <p:spPr>
          <a:xfrm>
            <a:off x="502920" y="3931920"/>
            <a:ext cx="10972800" cy="274320"/>
          </a:xfrm>
          <a:prstGeom prst="rect">
            <a:avLst/>
          </a:prstGeom>
          <a:noFill/>
          <a:ln/>
        </p:spPr>
        <p:txBody>
          <a:bodyPr wrap="square" lIns="0" tIns="0" rIns="0" bIns="0" rtlCol="0" anchor="ctr"/>
          <a:lstStyle/>
          <a:p>
            <a:pPr marL="0" indent="0">
              <a:buNone/>
            </a:pPr>
            <a:r>
              <a:rPr lang="en-US" sz="1100" b="1" kern="0" spc="300" dirty="0">
                <a:solidFill>
                  <a:srgbClr val="1C7293"/>
                </a:solidFill>
                <a:latin typeface="Calibri" pitchFamily="34" charset="0"/>
                <a:ea typeface="Calibri" pitchFamily="34" charset="-122"/>
                <a:cs typeface="Calibri" pitchFamily="34" charset="-120"/>
              </a:rPr>
              <a:t>WHAT THE TOP KEYWORDS NOW SURFACE</a:t>
            </a:r>
            <a:endParaRPr lang="en-US" sz="1100" dirty="0"/>
          </a:p>
        </p:txBody>
      </p:sp>
      <p:sp>
        <p:nvSpPr>
          <p:cNvPr id="13" name="Shape 11"/>
          <p:cNvSpPr/>
          <p:nvPr/>
        </p:nvSpPr>
        <p:spPr>
          <a:xfrm>
            <a:off x="502920" y="4251960"/>
            <a:ext cx="3657600" cy="2011680"/>
          </a:xfrm>
          <a:prstGeom prst="rect">
            <a:avLst/>
          </a:prstGeom>
          <a:solidFill>
            <a:srgbClr val="FFFFFF"/>
          </a:solidFill>
          <a:ln w="12700">
            <a:solidFill>
              <a:srgbClr val="1C7293"/>
            </a:solidFill>
            <a:prstDash val="solid"/>
          </a:ln>
        </p:spPr>
        <p:txBody>
          <a:bodyPr/>
          <a:lstStyle/>
          <a:p>
            <a:endParaRPr lang="en-US"/>
          </a:p>
        </p:txBody>
      </p:sp>
      <p:sp>
        <p:nvSpPr>
          <p:cNvPr id="14" name="Shape 12"/>
          <p:cNvSpPr/>
          <p:nvPr/>
        </p:nvSpPr>
        <p:spPr>
          <a:xfrm>
            <a:off x="502920" y="4251960"/>
            <a:ext cx="73152" cy="2011680"/>
          </a:xfrm>
          <a:prstGeom prst="rect">
            <a:avLst/>
          </a:prstGeom>
          <a:solidFill>
            <a:srgbClr val="1C7293"/>
          </a:solidFill>
          <a:ln w="12700">
            <a:solidFill>
              <a:srgbClr val="1C7293"/>
            </a:solidFill>
            <a:prstDash val="solid"/>
          </a:ln>
        </p:spPr>
        <p:txBody>
          <a:bodyPr/>
          <a:lstStyle/>
          <a:p>
            <a:endParaRPr lang="en-US"/>
          </a:p>
        </p:txBody>
      </p:sp>
      <p:sp>
        <p:nvSpPr>
          <p:cNvPr id="15" name="Text 13"/>
          <p:cNvSpPr/>
          <p:nvPr/>
        </p:nvSpPr>
        <p:spPr>
          <a:xfrm>
            <a:off x="731520" y="4370832"/>
            <a:ext cx="3383280" cy="36576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15/9-19</a:t>
            </a:r>
            <a:endParaRPr lang="en-US" sz="1600" dirty="0"/>
          </a:p>
        </p:txBody>
      </p:sp>
      <p:sp>
        <p:nvSpPr>
          <p:cNvPr id="16" name="Text 14"/>
          <p:cNvSpPr/>
          <p:nvPr/>
        </p:nvSpPr>
        <p:spPr>
          <a:xfrm>
            <a:off x="731520" y="4754880"/>
            <a:ext cx="3383280" cy="777240"/>
          </a:xfrm>
          <a:prstGeom prst="rect">
            <a:avLst/>
          </a:prstGeom>
          <a:noFill/>
          <a:ln/>
        </p:spPr>
        <p:txBody>
          <a:bodyPr wrap="square" lIns="0" tIns="0" rIns="0" bIns="0" rtlCol="0" anchor="ctr"/>
          <a:lstStyle/>
          <a:p>
            <a:pPr marL="0" indent="0">
              <a:spcAft>
                <a:spcPts val="200"/>
              </a:spcAft>
              <a:buNone/>
            </a:pPr>
            <a:r>
              <a:rPr lang="en-US" sz="1200" b="1" dirty="0">
                <a:solidFill>
                  <a:srgbClr val="065A82"/>
                </a:solidFill>
                <a:latin typeface="Calibri" pitchFamily="34" charset="0"/>
                <a:ea typeface="Calibri" pitchFamily="34" charset="-122"/>
                <a:cs typeface="Calibri" pitchFamily="34" charset="-120"/>
              </a:rPr>
              <a:t>suspended</a:t>
            </a:r>
            <a:endParaRPr lang="en-US" sz="1200" dirty="0"/>
          </a:p>
          <a:p>
            <a:pPr marL="0" indent="0">
              <a:spcAft>
                <a:spcPts val="200"/>
              </a:spcAft>
              <a:buNone/>
            </a:pPr>
            <a:r>
              <a:rPr lang="en-US" sz="1200" b="1" dirty="0">
                <a:solidFill>
                  <a:srgbClr val="065A82"/>
                </a:solidFill>
                <a:latin typeface="Calibri" pitchFamily="34" charset="0"/>
                <a:ea typeface="Calibri" pitchFamily="34" charset="-122"/>
                <a:cs typeface="Calibri" pitchFamily="34" charset="-120"/>
              </a:rPr>
              <a:t>ofs strike</a:t>
            </a:r>
            <a:endParaRPr lang="en-US" sz="1200" dirty="0"/>
          </a:p>
          <a:p>
            <a:pPr marL="0" indent="0">
              <a:spcAft>
                <a:spcPts val="200"/>
              </a:spcAft>
              <a:buNone/>
            </a:pPr>
            <a:r>
              <a:rPr lang="en-US" sz="1200" b="1" dirty="0">
                <a:solidFill>
                  <a:srgbClr val="065A82"/>
                </a:solidFill>
                <a:latin typeface="Calibri" pitchFamily="34" charset="0"/>
                <a:ea typeface="Calibri" pitchFamily="34" charset="-122"/>
                <a:cs typeface="Calibri" pitchFamily="34" charset="-120"/>
              </a:rPr>
              <a:t>continue waiting</a:t>
            </a:r>
            <a:endParaRPr lang="en-US" sz="1200" dirty="0"/>
          </a:p>
        </p:txBody>
      </p:sp>
      <p:sp>
        <p:nvSpPr>
          <p:cNvPr id="17" name="Text 15"/>
          <p:cNvSpPr/>
          <p:nvPr/>
        </p:nvSpPr>
        <p:spPr>
          <a:xfrm>
            <a:off x="731520" y="5577840"/>
            <a:ext cx="3383280" cy="64008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Long-suspended exploration well — even an offshore strike that halted operations leaves a vocabulary trace.</a:t>
            </a:r>
            <a:endParaRPr lang="en-US" sz="1100" dirty="0"/>
          </a:p>
        </p:txBody>
      </p:sp>
      <p:sp>
        <p:nvSpPr>
          <p:cNvPr id="18" name="Shape 16"/>
          <p:cNvSpPr/>
          <p:nvPr/>
        </p:nvSpPr>
        <p:spPr>
          <a:xfrm>
            <a:off x="4434840" y="4251960"/>
            <a:ext cx="3657600" cy="2011680"/>
          </a:xfrm>
          <a:prstGeom prst="rect">
            <a:avLst/>
          </a:prstGeom>
          <a:solidFill>
            <a:srgbClr val="FFFFFF"/>
          </a:solidFill>
          <a:ln w="12700">
            <a:solidFill>
              <a:srgbClr val="1C7293"/>
            </a:solidFill>
            <a:prstDash val="solid"/>
          </a:ln>
        </p:spPr>
        <p:txBody>
          <a:bodyPr/>
          <a:lstStyle/>
          <a:p>
            <a:endParaRPr lang="en-US"/>
          </a:p>
        </p:txBody>
      </p:sp>
      <p:sp>
        <p:nvSpPr>
          <p:cNvPr id="19" name="Shape 17"/>
          <p:cNvSpPr/>
          <p:nvPr/>
        </p:nvSpPr>
        <p:spPr>
          <a:xfrm>
            <a:off x="4434840" y="4251960"/>
            <a:ext cx="73152" cy="2011680"/>
          </a:xfrm>
          <a:prstGeom prst="rect">
            <a:avLst/>
          </a:prstGeom>
          <a:solidFill>
            <a:srgbClr val="1C7293"/>
          </a:solidFill>
          <a:ln w="12700">
            <a:solidFill>
              <a:srgbClr val="1C7293"/>
            </a:solidFill>
            <a:prstDash val="solid"/>
          </a:ln>
        </p:spPr>
        <p:txBody>
          <a:bodyPr/>
          <a:lstStyle/>
          <a:p>
            <a:endParaRPr lang="en-US"/>
          </a:p>
        </p:txBody>
      </p:sp>
      <p:sp>
        <p:nvSpPr>
          <p:cNvPr id="20" name="Text 18"/>
          <p:cNvSpPr/>
          <p:nvPr/>
        </p:nvSpPr>
        <p:spPr>
          <a:xfrm>
            <a:off x="4663440" y="4370832"/>
            <a:ext cx="3383280" cy="36576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15/9-F-12</a:t>
            </a:r>
            <a:endParaRPr lang="en-US" sz="1600" dirty="0"/>
          </a:p>
        </p:txBody>
      </p:sp>
      <p:sp>
        <p:nvSpPr>
          <p:cNvPr id="21" name="Text 19"/>
          <p:cNvSpPr/>
          <p:nvPr/>
        </p:nvSpPr>
        <p:spPr>
          <a:xfrm>
            <a:off x="4663440" y="4754880"/>
            <a:ext cx="3383280" cy="777240"/>
          </a:xfrm>
          <a:prstGeom prst="rect">
            <a:avLst/>
          </a:prstGeom>
          <a:noFill/>
          <a:ln/>
        </p:spPr>
        <p:txBody>
          <a:bodyPr wrap="square" lIns="0" tIns="0" rIns="0" bIns="0" rtlCol="0" anchor="ctr"/>
          <a:lstStyle/>
          <a:p>
            <a:pPr marL="0" indent="0">
              <a:spcAft>
                <a:spcPts val="200"/>
              </a:spcAft>
              <a:buNone/>
            </a:pPr>
            <a:r>
              <a:rPr lang="en-US" sz="1200" b="1" dirty="0">
                <a:solidFill>
                  <a:srgbClr val="065A82"/>
                </a:solidFill>
                <a:latin typeface="Calibri" pitchFamily="34" charset="0"/>
                <a:ea typeface="Calibri" pitchFamily="34" charset="-122"/>
                <a:cs typeface="Calibri" pitchFamily="34" charset="-120"/>
              </a:rPr>
              <a:t>pilot</a:t>
            </a:r>
            <a:endParaRPr lang="en-US" sz="1200" dirty="0"/>
          </a:p>
          <a:p>
            <a:pPr marL="0" indent="0">
              <a:spcAft>
                <a:spcPts val="200"/>
              </a:spcAft>
              <a:buNone/>
            </a:pPr>
            <a:r>
              <a:rPr lang="en-US" sz="1200" b="1" dirty="0">
                <a:solidFill>
                  <a:srgbClr val="065A82"/>
                </a:solidFill>
                <a:latin typeface="Calibri" pitchFamily="34" charset="0"/>
                <a:ea typeface="Calibri" pitchFamily="34" charset="-122"/>
                <a:cs typeface="Calibri" pitchFamily="34" charset="-120"/>
              </a:rPr>
              <a:t>tie-back</a:t>
            </a:r>
            <a:endParaRPr lang="en-US" sz="1200" dirty="0"/>
          </a:p>
          <a:p>
            <a:pPr marL="0" indent="0">
              <a:spcAft>
                <a:spcPts val="200"/>
              </a:spcAft>
              <a:buNone/>
            </a:pPr>
            <a:r>
              <a:rPr lang="en-US" sz="1200" b="1" dirty="0">
                <a:solidFill>
                  <a:srgbClr val="065A82"/>
                </a:solidFill>
                <a:latin typeface="Calibri" pitchFamily="34" charset="0"/>
                <a:ea typeface="Calibri" pitchFamily="34" charset="-122"/>
                <a:cs typeface="Calibri" pitchFamily="34" charset="-120"/>
              </a:rPr>
              <a:t>ecd rop</a:t>
            </a:r>
            <a:endParaRPr lang="en-US" sz="1200" dirty="0"/>
          </a:p>
        </p:txBody>
      </p:sp>
      <p:sp>
        <p:nvSpPr>
          <p:cNvPr id="22" name="Text 20"/>
          <p:cNvSpPr/>
          <p:nvPr/>
        </p:nvSpPr>
        <p:spPr>
          <a:xfrm>
            <a:off x="4663440" y="5577840"/>
            <a:ext cx="3383280" cy="64008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Tie-back casing ops + ECD-monitored drilling. Distinctive technical phrasing.</a:t>
            </a:r>
            <a:endParaRPr lang="en-US" sz="1100" dirty="0"/>
          </a:p>
        </p:txBody>
      </p:sp>
      <p:sp>
        <p:nvSpPr>
          <p:cNvPr id="23" name="Shape 21"/>
          <p:cNvSpPr/>
          <p:nvPr/>
        </p:nvSpPr>
        <p:spPr>
          <a:xfrm>
            <a:off x="8366760" y="4251960"/>
            <a:ext cx="3657600" cy="2011680"/>
          </a:xfrm>
          <a:prstGeom prst="rect">
            <a:avLst/>
          </a:prstGeom>
          <a:solidFill>
            <a:srgbClr val="FFFFFF"/>
          </a:solidFill>
          <a:ln w="12700">
            <a:solidFill>
              <a:srgbClr val="1C7293"/>
            </a:solidFill>
            <a:prstDash val="solid"/>
          </a:ln>
        </p:spPr>
        <p:txBody>
          <a:bodyPr/>
          <a:lstStyle/>
          <a:p>
            <a:endParaRPr lang="en-US"/>
          </a:p>
        </p:txBody>
      </p:sp>
      <p:sp>
        <p:nvSpPr>
          <p:cNvPr id="24" name="Shape 22"/>
          <p:cNvSpPr/>
          <p:nvPr/>
        </p:nvSpPr>
        <p:spPr>
          <a:xfrm>
            <a:off x="8366760" y="4251960"/>
            <a:ext cx="73152" cy="2011680"/>
          </a:xfrm>
          <a:prstGeom prst="rect">
            <a:avLst/>
          </a:prstGeom>
          <a:solidFill>
            <a:srgbClr val="1C7293"/>
          </a:solidFill>
          <a:ln w="12700">
            <a:solidFill>
              <a:srgbClr val="1C7293"/>
            </a:solidFill>
            <a:prstDash val="solid"/>
          </a:ln>
        </p:spPr>
        <p:txBody>
          <a:bodyPr/>
          <a:lstStyle/>
          <a:p>
            <a:endParaRPr lang="en-US"/>
          </a:p>
        </p:txBody>
      </p:sp>
      <p:sp>
        <p:nvSpPr>
          <p:cNvPr id="25" name="Text 23"/>
          <p:cNvSpPr/>
          <p:nvPr/>
        </p:nvSpPr>
        <p:spPr>
          <a:xfrm>
            <a:off x="8595360" y="4370832"/>
            <a:ext cx="3383280" cy="36576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15/9-F-15</a:t>
            </a:r>
            <a:endParaRPr lang="en-US" sz="1600" dirty="0"/>
          </a:p>
        </p:txBody>
      </p:sp>
      <p:sp>
        <p:nvSpPr>
          <p:cNvPr id="26" name="Text 24"/>
          <p:cNvSpPr/>
          <p:nvPr/>
        </p:nvSpPr>
        <p:spPr>
          <a:xfrm>
            <a:off x="8595360" y="4754880"/>
            <a:ext cx="3383280" cy="777240"/>
          </a:xfrm>
          <a:prstGeom prst="rect">
            <a:avLst/>
          </a:prstGeom>
          <a:noFill/>
          <a:ln/>
        </p:spPr>
        <p:txBody>
          <a:bodyPr wrap="square" lIns="0" tIns="0" rIns="0" bIns="0" rtlCol="0" anchor="ctr"/>
          <a:lstStyle/>
          <a:p>
            <a:pPr marL="0" indent="0">
              <a:spcAft>
                <a:spcPts val="200"/>
              </a:spcAft>
              <a:buNone/>
            </a:pPr>
            <a:r>
              <a:rPr lang="en-US" sz="1200" b="1" dirty="0">
                <a:solidFill>
                  <a:srgbClr val="065A82"/>
                </a:solidFill>
                <a:latin typeface="Calibri" pitchFamily="34" charset="0"/>
                <a:ea typeface="Calibri" pitchFamily="34" charset="-122"/>
                <a:cs typeface="Calibri" pitchFamily="34" charset="-120"/>
              </a:rPr>
              <a:t>lcm pill</a:t>
            </a:r>
            <a:endParaRPr lang="en-US" sz="1200" dirty="0"/>
          </a:p>
          <a:p>
            <a:pPr marL="0" indent="0">
              <a:spcAft>
                <a:spcPts val="200"/>
              </a:spcAft>
              <a:buNone/>
            </a:pPr>
            <a:r>
              <a:rPr lang="en-US" sz="1200" b="1" dirty="0">
                <a:solidFill>
                  <a:srgbClr val="065A82"/>
                </a:solidFill>
                <a:latin typeface="Calibri" pitchFamily="34" charset="0"/>
                <a:ea typeface="Calibri" pitchFamily="34" charset="-122"/>
                <a:cs typeface="Calibri" pitchFamily="34" charset="-120"/>
              </a:rPr>
              <a:t>rop mud</a:t>
            </a:r>
            <a:endParaRPr lang="en-US" sz="1200" dirty="0"/>
          </a:p>
          <a:p>
            <a:pPr marL="0" indent="0">
              <a:spcAft>
                <a:spcPts val="200"/>
              </a:spcAft>
              <a:buNone/>
            </a:pPr>
            <a:r>
              <a:rPr lang="en-US" sz="1200" b="1" dirty="0">
                <a:solidFill>
                  <a:srgbClr val="065A82"/>
                </a:solidFill>
                <a:latin typeface="Calibri" pitchFamily="34" charset="0"/>
                <a:ea typeface="Calibri" pitchFamily="34" charset="-122"/>
                <a:cs typeface="Calibri" pitchFamily="34" charset="-120"/>
              </a:rPr>
              <a:t>string bit</a:t>
            </a:r>
            <a:endParaRPr lang="en-US" sz="1200" dirty="0"/>
          </a:p>
        </p:txBody>
      </p:sp>
      <p:sp>
        <p:nvSpPr>
          <p:cNvPr id="27" name="Text 25"/>
          <p:cNvSpPr/>
          <p:nvPr/>
        </p:nvSpPr>
        <p:spPr>
          <a:xfrm>
            <a:off x="8595360" y="5577840"/>
            <a:ext cx="3383280" cy="64008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Lost-circulation-material pills appear repeatedly — challenging mud conditions.</a:t>
            </a:r>
            <a:endParaRPr lang="en-US" sz="1100" dirty="0"/>
          </a:p>
        </p:txBody>
      </p:sp>
      <p:sp>
        <p:nvSpPr>
          <p:cNvPr id="28" name="Text 26"/>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Ayxan Muxtar  ·  eiLink RA-DS 2026</a:t>
            </a:r>
            <a:endParaRPr lang="en-US" sz="900" dirty="0"/>
          </a:p>
        </p:txBody>
      </p:sp>
      <p:sp>
        <p:nvSpPr>
          <p:cNvPr id="29" name="Text 27"/>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14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1C7293"/>
          </a:solidFill>
          <a:ln w="12700">
            <a:solidFill>
              <a:srgbClr val="1C7293"/>
            </a:solidFill>
            <a:prstDash val="solid"/>
          </a:ln>
        </p:spPr>
        <p:txBody>
          <a:bodyPr/>
          <a:lstStyle/>
          <a:p>
            <a:endParaRPr lang="en-US"/>
          </a:p>
        </p:txBody>
      </p:sp>
      <p:sp>
        <p:nvSpPr>
          <p:cNvPr id="3" name="Text 1"/>
          <p:cNvSpPr/>
          <p:nvPr/>
        </p:nvSpPr>
        <p:spPr>
          <a:xfrm>
            <a:off x="502920" y="228600"/>
            <a:ext cx="548640" cy="457200"/>
          </a:xfrm>
          <a:prstGeom prst="rect">
            <a:avLst/>
          </a:prstGeom>
          <a:noFill/>
          <a:ln/>
        </p:spPr>
        <p:txBody>
          <a:bodyPr wrap="square" lIns="0" tIns="0" rIns="0" bIns="0" rtlCol="0" anchor="ctr"/>
          <a:lstStyle/>
          <a:p>
            <a:pPr marL="0" indent="0">
              <a:buNone/>
            </a:pPr>
            <a:r>
              <a:rPr lang="en-US" sz="2800" b="1" dirty="0">
                <a:solidFill>
                  <a:srgbClr val="1C7293"/>
                </a:solidFill>
                <a:latin typeface="Calibri" pitchFamily="34" charset="0"/>
                <a:ea typeface="Calibri" pitchFamily="34" charset="-122"/>
                <a:cs typeface="Calibri" pitchFamily="34" charset="-120"/>
              </a:rPr>
              <a:t>15</a:t>
            </a:r>
            <a:endParaRPr lang="en-US" sz="2800" dirty="0"/>
          </a:p>
        </p:txBody>
      </p:sp>
      <p:sp>
        <p:nvSpPr>
          <p:cNvPr id="4" name="Text 2"/>
          <p:cNvSpPr/>
          <p:nvPr/>
        </p:nvSpPr>
        <p:spPr>
          <a:xfrm>
            <a:off x="1097280" y="228600"/>
            <a:ext cx="1060704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severity scoring — why I added it, what it surfaces</a:t>
            </a:r>
            <a:endParaRPr lang="en-US" sz="2600" dirty="0"/>
          </a:p>
        </p:txBody>
      </p:sp>
      <p:sp>
        <p:nvSpPr>
          <p:cNvPr id="5" name="Text 3"/>
          <p:cNvSpPr/>
          <p:nvPr/>
        </p:nvSpPr>
        <p:spPr>
          <a:xfrm>
            <a:off x="1097280" y="713232"/>
            <a:ext cx="1060704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Composing existing signals into a new view</a:t>
            </a:r>
            <a:endParaRPr lang="en-US" sz="1300" dirty="0"/>
          </a:p>
        </p:txBody>
      </p:sp>
      <p:sp>
        <p:nvSpPr>
          <p:cNvPr id="6" name="Text 4"/>
          <p:cNvSpPr/>
          <p:nvPr/>
        </p:nvSpPr>
        <p:spPr>
          <a:xfrm>
            <a:off x="502920" y="1097280"/>
            <a:ext cx="11155680" cy="502920"/>
          </a:xfrm>
          <a:prstGeom prst="rect">
            <a:avLst/>
          </a:prstGeom>
          <a:noFill/>
          <a:ln/>
        </p:spPr>
        <p:txBody>
          <a:bodyPr wrap="square" lIns="0" tIns="0" rIns="0" bIns="0" rtlCol="0" anchor="ctr"/>
          <a:lstStyle/>
          <a:p>
            <a:pPr marL="0" indent="0">
              <a:buNone/>
            </a:pPr>
            <a:endParaRPr lang="en-US" sz="1200" dirty="0"/>
          </a:p>
        </p:txBody>
      </p:sp>
      <p:sp>
        <p:nvSpPr>
          <p:cNvPr id="7" name="Shape 5"/>
          <p:cNvSpPr/>
          <p:nvPr/>
        </p:nvSpPr>
        <p:spPr>
          <a:xfrm>
            <a:off x="502920" y="1783080"/>
            <a:ext cx="11155680" cy="777240"/>
          </a:xfrm>
          <a:prstGeom prst="rect">
            <a:avLst/>
          </a:prstGeom>
          <a:solidFill>
            <a:srgbClr val="21295C"/>
          </a:solidFill>
          <a:ln w="12700">
            <a:solidFill>
              <a:srgbClr val="21295C"/>
            </a:solidFill>
            <a:prstDash val="solid"/>
          </a:ln>
        </p:spPr>
        <p:txBody>
          <a:bodyPr/>
          <a:lstStyle/>
          <a:p>
            <a:endParaRPr lang="en-US"/>
          </a:p>
        </p:txBody>
      </p:sp>
      <p:sp>
        <p:nvSpPr>
          <p:cNvPr id="8" name="Text 6"/>
          <p:cNvSpPr/>
          <p:nvPr/>
        </p:nvSpPr>
        <p:spPr>
          <a:xfrm>
            <a:off x="777240" y="1828800"/>
            <a:ext cx="10698480" cy="365760"/>
          </a:xfrm>
          <a:prstGeom prst="rect">
            <a:avLst/>
          </a:prstGeom>
          <a:noFill/>
          <a:ln/>
        </p:spPr>
        <p:txBody>
          <a:bodyPr wrap="square" lIns="0" tIns="0" rIns="0" bIns="0" rtlCol="0" anchor="ctr"/>
          <a:lstStyle/>
          <a:p>
            <a:pPr marL="0" indent="0">
              <a:buNone/>
            </a:pPr>
            <a:r>
              <a:rPr lang="en-US" sz="1400" b="1" dirty="0">
                <a:solidFill>
                  <a:srgbClr val="FFFFFF"/>
                </a:solidFill>
                <a:latin typeface="Courier New" pitchFamily="34" charset="0"/>
                <a:ea typeface="Courier New" pitchFamily="34" charset="-122"/>
                <a:cs typeface="Courier New" pitchFamily="34" charset="-120"/>
              </a:rPr>
              <a:t>severity = Σ(activity weights) + Σ(text-signal weights) + (5 if state == 'fail')</a:t>
            </a:r>
            <a:endParaRPr lang="en-US" sz="1400" dirty="0"/>
          </a:p>
        </p:txBody>
      </p:sp>
      <p:sp>
        <p:nvSpPr>
          <p:cNvPr id="9" name="Text 7"/>
          <p:cNvSpPr/>
          <p:nvPr/>
        </p:nvSpPr>
        <p:spPr>
          <a:xfrm>
            <a:off x="777240" y="2194560"/>
            <a:ext cx="10698480" cy="320040"/>
          </a:xfrm>
          <a:prstGeom prst="rect">
            <a:avLst/>
          </a:prstGeom>
          <a:noFill/>
          <a:ln/>
        </p:spPr>
        <p:txBody>
          <a:bodyPr wrap="square" lIns="0" tIns="0" rIns="0" bIns="0" rtlCol="0" anchor="ctr"/>
          <a:lstStyle/>
          <a:p>
            <a:pPr marL="0" indent="0">
              <a:buNone/>
            </a:pPr>
            <a:r>
              <a:rPr lang="en-US" sz="1100" dirty="0">
                <a:solidFill>
                  <a:srgbClr val="E6F1F7"/>
                </a:solidFill>
                <a:latin typeface="Courier New" pitchFamily="34" charset="0"/>
                <a:ea typeface="Courier New" pitchFamily="34" charset="-122"/>
                <a:cs typeface="Courier New" pitchFamily="34" charset="-120"/>
              </a:rPr>
              <a:t>activity weights: WELL_CONTROL=10  STUCK_PIPE=8  FISHING=6  EQUIPMENT_FAILURE=4  TIGHT_HOLE=3</a:t>
            </a:r>
            <a:endParaRPr lang="en-US" sz="1100" dirty="0"/>
          </a:p>
        </p:txBody>
      </p:sp>
      <p:sp>
        <p:nvSpPr>
          <p:cNvPr id="10" name="Text 8"/>
          <p:cNvSpPr/>
          <p:nvPr/>
        </p:nvSpPr>
        <p:spPr>
          <a:xfrm>
            <a:off x="502920" y="2743200"/>
            <a:ext cx="10972800" cy="274320"/>
          </a:xfrm>
          <a:prstGeom prst="rect">
            <a:avLst/>
          </a:prstGeom>
          <a:noFill/>
          <a:ln/>
        </p:spPr>
        <p:txBody>
          <a:bodyPr wrap="square" lIns="0" tIns="0" rIns="0" bIns="0" rtlCol="0" anchor="ctr"/>
          <a:lstStyle/>
          <a:p>
            <a:pPr marL="0" indent="0">
              <a:buNone/>
            </a:pPr>
            <a:r>
              <a:rPr lang="en-US" sz="1100" b="1" kern="0" spc="300" dirty="0">
                <a:solidFill>
                  <a:srgbClr val="1C7293"/>
                </a:solidFill>
                <a:latin typeface="Calibri" pitchFamily="34" charset="0"/>
                <a:ea typeface="Calibri" pitchFamily="34" charset="-122"/>
                <a:cs typeface="Calibri" pitchFamily="34" charset="-120"/>
              </a:rPr>
              <a:t>WORKED EXAMPLE — top severe event in the corpus</a:t>
            </a:r>
            <a:endParaRPr lang="en-US" sz="1100" dirty="0"/>
          </a:p>
        </p:txBody>
      </p:sp>
      <p:sp>
        <p:nvSpPr>
          <p:cNvPr id="11" name="Shape 9"/>
          <p:cNvSpPr/>
          <p:nvPr/>
        </p:nvSpPr>
        <p:spPr>
          <a:xfrm>
            <a:off x="502920" y="3017520"/>
            <a:ext cx="11155680" cy="1463040"/>
          </a:xfrm>
          <a:prstGeom prst="rect">
            <a:avLst/>
          </a:prstGeom>
          <a:solidFill>
            <a:srgbClr val="E6F1F7"/>
          </a:solidFill>
          <a:ln w="12700">
            <a:solidFill>
              <a:srgbClr val="E6F1F7"/>
            </a:solidFill>
            <a:prstDash val="solid"/>
          </a:ln>
        </p:spPr>
        <p:txBody>
          <a:bodyPr/>
          <a:lstStyle/>
          <a:p>
            <a:endParaRPr lang="en-US"/>
          </a:p>
        </p:txBody>
      </p:sp>
      <p:sp>
        <p:nvSpPr>
          <p:cNvPr id="12" name="Text 10"/>
          <p:cNvSpPr/>
          <p:nvPr/>
        </p:nvSpPr>
        <p:spPr>
          <a:xfrm>
            <a:off x="777240" y="3108960"/>
            <a:ext cx="10607040" cy="502920"/>
          </a:xfrm>
          <a:prstGeom prst="rect">
            <a:avLst/>
          </a:prstGeom>
          <a:noFill/>
          <a:ln/>
        </p:spPr>
        <p:txBody>
          <a:bodyPr wrap="square" lIns="0" tIns="0" rIns="0" bIns="0" rtlCol="0" anchor="ctr"/>
          <a:lstStyle/>
          <a:p>
            <a:pPr marL="0" indent="0">
              <a:buNone/>
            </a:pPr>
            <a:r>
              <a:rPr lang="en-US" sz="1100" i="1" dirty="0">
                <a:solidFill>
                  <a:srgbClr val="1E293B"/>
                </a:solidFill>
                <a:latin typeface="Calibri" pitchFamily="34" charset="0"/>
                <a:ea typeface="Calibri" pitchFamily="34" charset="-122"/>
                <a:cs typeface="Calibri" pitchFamily="34" charset="-120"/>
              </a:rPr>
              <a:t>15/9-19  ·  1998-01-29  ·  "MU 13 3/8" SPEAR/PACK-OFF ASSEMBLY. Engaged 13 3/8" casing below wellhead. Unable to pull 13 3/8" casing free with 154 t pull..."</a:t>
            </a:r>
            <a:endParaRPr lang="en-US" sz="1100" dirty="0"/>
          </a:p>
        </p:txBody>
      </p:sp>
      <p:sp>
        <p:nvSpPr>
          <p:cNvPr id="13" name="Text 11"/>
          <p:cNvSpPr/>
          <p:nvPr/>
        </p:nvSpPr>
        <p:spPr>
          <a:xfrm>
            <a:off x="777240" y="3749040"/>
            <a:ext cx="10607040" cy="36576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Score breakdown:  </a:t>
            </a:r>
            <a:r>
              <a:rPr lang="en-US" sz="1200" dirty="0">
                <a:solidFill>
                  <a:srgbClr val="1E293B"/>
                </a:solidFill>
                <a:latin typeface="Calibri" pitchFamily="34" charset="0"/>
                <a:ea typeface="Calibri" pitchFamily="34" charset="-122"/>
                <a:cs typeface="Calibri" pitchFamily="34" charset="-120"/>
              </a:rPr>
              <a:t>STUCK_PIPE +8  ·  FISHING +6  ·  EQUIPMENT_FAILURE +4  ·  text:'pack off' +3  ·  state=fail = </a:t>
            </a:r>
            <a:r>
              <a:rPr lang="en-US" sz="1400" b="1" dirty="0">
                <a:solidFill>
                  <a:srgbClr val="DC2626"/>
                </a:solidFill>
                <a:latin typeface="Calibri" pitchFamily="34" charset="0"/>
                <a:ea typeface="Calibri" pitchFamily="34" charset="-122"/>
                <a:cs typeface="Calibri" pitchFamily="34" charset="-120"/>
              </a:rPr>
              <a:t>22</a:t>
            </a:r>
            <a:endParaRPr lang="en-US" sz="1200" dirty="0"/>
          </a:p>
        </p:txBody>
      </p:sp>
      <p:sp>
        <p:nvSpPr>
          <p:cNvPr id="14" name="Text 12"/>
          <p:cNvSpPr/>
          <p:nvPr/>
        </p:nvSpPr>
        <p:spPr>
          <a:xfrm>
            <a:off x="777240" y="4114800"/>
            <a:ext cx="10607040" cy="36576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This single row encodes four signals. Without composition, no individual classifier surfaces 'this was the worst event in 26 years'.</a:t>
            </a:r>
            <a:endParaRPr lang="en-US" sz="1100" dirty="0"/>
          </a:p>
        </p:txBody>
      </p:sp>
      <p:sp>
        <p:nvSpPr>
          <p:cNvPr id="15" name="Text 13"/>
          <p:cNvSpPr/>
          <p:nvPr/>
        </p:nvSpPr>
        <p:spPr>
          <a:xfrm>
            <a:off x="502920" y="4617720"/>
            <a:ext cx="10972800" cy="274320"/>
          </a:xfrm>
          <a:prstGeom prst="rect">
            <a:avLst/>
          </a:prstGeom>
          <a:noFill/>
          <a:ln/>
        </p:spPr>
        <p:txBody>
          <a:bodyPr wrap="square" lIns="0" tIns="0" rIns="0" bIns="0" rtlCol="0" anchor="ctr"/>
          <a:lstStyle/>
          <a:p>
            <a:pPr marL="0" indent="0">
              <a:buNone/>
            </a:pPr>
            <a:r>
              <a:rPr lang="en-US" sz="1100" b="1" kern="0" spc="300" dirty="0">
                <a:solidFill>
                  <a:srgbClr val="1C7293"/>
                </a:solidFill>
                <a:latin typeface="Calibri" pitchFamily="34" charset="0"/>
                <a:ea typeface="Calibri" pitchFamily="34" charset="-122"/>
                <a:cs typeface="Calibri" pitchFamily="34" charset="-120"/>
              </a:rPr>
              <a:t>WHAT IT PRODUCES</a:t>
            </a:r>
            <a:endParaRPr lang="en-US" sz="1100" dirty="0"/>
          </a:p>
        </p:txBody>
      </p:sp>
      <p:sp>
        <p:nvSpPr>
          <p:cNvPr id="16" name="Shape 14"/>
          <p:cNvSpPr/>
          <p:nvPr/>
        </p:nvSpPr>
        <p:spPr>
          <a:xfrm>
            <a:off x="502920" y="4937760"/>
            <a:ext cx="2514600" cy="1188720"/>
          </a:xfrm>
          <a:prstGeom prst="rect">
            <a:avLst/>
          </a:prstGeom>
          <a:solidFill>
            <a:srgbClr val="FFFFFF"/>
          </a:solidFill>
          <a:ln w="12700">
            <a:solidFill>
              <a:srgbClr val="065A82"/>
            </a:solidFill>
            <a:prstDash val="solid"/>
          </a:ln>
        </p:spPr>
        <p:txBody>
          <a:bodyPr/>
          <a:lstStyle/>
          <a:p>
            <a:endParaRPr lang="en-US"/>
          </a:p>
        </p:txBody>
      </p:sp>
      <p:sp>
        <p:nvSpPr>
          <p:cNvPr id="17" name="Text 15"/>
          <p:cNvSpPr/>
          <p:nvPr/>
        </p:nvSpPr>
        <p:spPr>
          <a:xfrm>
            <a:off x="685800" y="5074920"/>
            <a:ext cx="2194560" cy="274320"/>
          </a:xfrm>
          <a:prstGeom prst="rect">
            <a:avLst/>
          </a:prstGeom>
          <a:noFill/>
          <a:ln/>
        </p:spPr>
        <p:txBody>
          <a:bodyPr wrap="square" lIns="0" tIns="0" rIns="0" bIns="0" rtlCol="0" anchor="ctr"/>
          <a:lstStyle/>
          <a:p>
            <a:pPr marL="0" indent="0">
              <a:buNone/>
            </a:pPr>
            <a:r>
              <a:rPr lang="en-US" sz="900" b="1" kern="0" spc="200" dirty="0">
                <a:solidFill>
                  <a:srgbClr val="64748B"/>
                </a:solidFill>
                <a:latin typeface="Calibri" pitchFamily="34" charset="0"/>
                <a:ea typeface="Calibri" pitchFamily="34" charset="-122"/>
                <a:cs typeface="Calibri" pitchFamily="34" charset="-120"/>
              </a:rPr>
              <a:t>SEVERE EVENTS ≥ 5</a:t>
            </a:r>
            <a:endParaRPr lang="en-US" sz="900" dirty="0"/>
          </a:p>
        </p:txBody>
      </p:sp>
      <p:sp>
        <p:nvSpPr>
          <p:cNvPr id="18" name="Text 16"/>
          <p:cNvSpPr/>
          <p:nvPr/>
        </p:nvSpPr>
        <p:spPr>
          <a:xfrm>
            <a:off x="685800" y="5349240"/>
            <a:ext cx="2194560" cy="64008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1,065</a:t>
            </a:r>
            <a:endParaRPr lang="en-US" sz="2800" dirty="0"/>
          </a:p>
        </p:txBody>
      </p:sp>
      <p:sp>
        <p:nvSpPr>
          <p:cNvPr id="19" name="Shape 17"/>
          <p:cNvSpPr/>
          <p:nvPr/>
        </p:nvSpPr>
        <p:spPr>
          <a:xfrm>
            <a:off x="3383280" y="4937760"/>
            <a:ext cx="2514600" cy="1188720"/>
          </a:xfrm>
          <a:prstGeom prst="rect">
            <a:avLst/>
          </a:prstGeom>
          <a:solidFill>
            <a:srgbClr val="FFFFFF"/>
          </a:solidFill>
          <a:ln w="12700">
            <a:solidFill>
              <a:srgbClr val="065A82"/>
            </a:solidFill>
            <a:prstDash val="solid"/>
          </a:ln>
        </p:spPr>
        <p:txBody>
          <a:bodyPr/>
          <a:lstStyle/>
          <a:p>
            <a:endParaRPr lang="en-US"/>
          </a:p>
        </p:txBody>
      </p:sp>
      <p:sp>
        <p:nvSpPr>
          <p:cNvPr id="20" name="Text 18"/>
          <p:cNvSpPr/>
          <p:nvPr/>
        </p:nvSpPr>
        <p:spPr>
          <a:xfrm>
            <a:off x="3566160" y="5074920"/>
            <a:ext cx="2194560" cy="274320"/>
          </a:xfrm>
          <a:prstGeom prst="rect">
            <a:avLst/>
          </a:prstGeom>
          <a:noFill/>
          <a:ln/>
        </p:spPr>
        <p:txBody>
          <a:bodyPr wrap="square" lIns="0" tIns="0" rIns="0" bIns="0" rtlCol="0" anchor="ctr"/>
          <a:lstStyle/>
          <a:p>
            <a:pPr marL="0" indent="0">
              <a:buNone/>
            </a:pPr>
            <a:r>
              <a:rPr lang="en-US" sz="900" b="1" kern="0" spc="200" dirty="0">
                <a:solidFill>
                  <a:srgbClr val="64748B"/>
                </a:solidFill>
                <a:latin typeface="Calibri" pitchFamily="34" charset="0"/>
                <a:ea typeface="Calibri" pitchFamily="34" charset="-122"/>
                <a:cs typeface="Calibri" pitchFamily="34" charset="-120"/>
              </a:rPr>
              <a:t>MEDIAN SCORE</a:t>
            </a:r>
            <a:endParaRPr lang="en-US" sz="900" dirty="0"/>
          </a:p>
        </p:txBody>
      </p:sp>
      <p:sp>
        <p:nvSpPr>
          <p:cNvPr id="21" name="Text 19"/>
          <p:cNvSpPr/>
          <p:nvPr/>
        </p:nvSpPr>
        <p:spPr>
          <a:xfrm>
            <a:off x="3566160" y="5349240"/>
            <a:ext cx="2194560" cy="64008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6</a:t>
            </a:r>
            <a:endParaRPr lang="en-US" sz="2800" dirty="0"/>
          </a:p>
        </p:txBody>
      </p:sp>
      <p:sp>
        <p:nvSpPr>
          <p:cNvPr id="22" name="Shape 20"/>
          <p:cNvSpPr/>
          <p:nvPr/>
        </p:nvSpPr>
        <p:spPr>
          <a:xfrm>
            <a:off x="6263640" y="4937760"/>
            <a:ext cx="2514600" cy="1188720"/>
          </a:xfrm>
          <a:prstGeom prst="rect">
            <a:avLst/>
          </a:prstGeom>
          <a:solidFill>
            <a:srgbClr val="FFFFFF"/>
          </a:solidFill>
          <a:ln w="12700">
            <a:solidFill>
              <a:srgbClr val="065A82"/>
            </a:solidFill>
            <a:prstDash val="solid"/>
          </a:ln>
        </p:spPr>
        <p:txBody>
          <a:bodyPr/>
          <a:lstStyle/>
          <a:p>
            <a:endParaRPr lang="en-US"/>
          </a:p>
        </p:txBody>
      </p:sp>
      <p:sp>
        <p:nvSpPr>
          <p:cNvPr id="23" name="Text 21"/>
          <p:cNvSpPr/>
          <p:nvPr/>
        </p:nvSpPr>
        <p:spPr>
          <a:xfrm>
            <a:off x="6446520" y="5074920"/>
            <a:ext cx="2194560" cy="274320"/>
          </a:xfrm>
          <a:prstGeom prst="rect">
            <a:avLst/>
          </a:prstGeom>
          <a:noFill/>
          <a:ln/>
        </p:spPr>
        <p:txBody>
          <a:bodyPr wrap="square" lIns="0" tIns="0" rIns="0" bIns="0" rtlCol="0" anchor="ctr"/>
          <a:lstStyle/>
          <a:p>
            <a:pPr marL="0" indent="0">
              <a:buNone/>
            </a:pPr>
            <a:r>
              <a:rPr lang="en-US" sz="900" b="1" kern="0" spc="200" dirty="0">
                <a:solidFill>
                  <a:srgbClr val="64748B"/>
                </a:solidFill>
                <a:latin typeface="Calibri" pitchFamily="34" charset="0"/>
                <a:ea typeface="Calibri" pitchFamily="34" charset="-122"/>
                <a:cs typeface="Calibri" pitchFamily="34" charset="-120"/>
              </a:rPr>
              <a:t>MAX SCORE</a:t>
            </a:r>
            <a:endParaRPr lang="en-US" sz="900" dirty="0"/>
          </a:p>
        </p:txBody>
      </p:sp>
      <p:sp>
        <p:nvSpPr>
          <p:cNvPr id="24" name="Text 22"/>
          <p:cNvSpPr/>
          <p:nvPr/>
        </p:nvSpPr>
        <p:spPr>
          <a:xfrm>
            <a:off x="6446520" y="5349240"/>
            <a:ext cx="2194560" cy="64008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22</a:t>
            </a:r>
            <a:endParaRPr lang="en-US" sz="2800" dirty="0"/>
          </a:p>
        </p:txBody>
      </p:sp>
      <p:sp>
        <p:nvSpPr>
          <p:cNvPr id="25" name="Shape 23"/>
          <p:cNvSpPr/>
          <p:nvPr/>
        </p:nvSpPr>
        <p:spPr>
          <a:xfrm>
            <a:off x="9144000" y="4937760"/>
            <a:ext cx="2514600" cy="1188720"/>
          </a:xfrm>
          <a:prstGeom prst="rect">
            <a:avLst/>
          </a:prstGeom>
          <a:solidFill>
            <a:srgbClr val="FFFFFF"/>
          </a:solidFill>
          <a:ln w="12700">
            <a:solidFill>
              <a:srgbClr val="065A82"/>
            </a:solidFill>
            <a:prstDash val="solid"/>
          </a:ln>
        </p:spPr>
        <p:txBody>
          <a:bodyPr/>
          <a:lstStyle/>
          <a:p>
            <a:endParaRPr lang="en-US"/>
          </a:p>
        </p:txBody>
      </p:sp>
      <p:sp>
        <p:nvSpPr>
          <p:cNvPr id="26" name="Text 24"/>
          <p:cNvSpPr/>
          <p:nvPr/>
        </p:nvSpPr>
        <p:spPr>
          <a:xfrm>
            <a:off x="9326880" y="5074920"/>
            <a:ext cx="2194560" cy="274320"/>
          </a:xfrm>
          <a:prstGeom prst="rect">
            <a:avLst/>
          </a:prstGeom>
          <a:noFill/>
          <a:ln/>
        </p:spPr>
        <p:txBody>
          <a:bodyPr wrap="square" lIns="0" tIns="0" rIns="0" bIns="0" rtlCol="0" anchor="ctr"/>
          <a:lstStyle/>
          <a:p>
            <a:pPr marL="0" indent="0">
              <a:buNone/>
            </a:pPr>
            <a:r>
              <a:rPr lang="en-US" sz="900" b="1" kern="0" spc="200" dirty="0">
                <a:solidFill>
                  <a:srgbClr val="64748B"/>
                </a:solidFill>
                <a:latin typeface="Calibri" pitchFamily="34" charset="0"/>
                <a:ea typeface="Calibri" pitchFamily="34" charset="-122"/>
                <a:cs typeface="Calibri" pitchFamily="34" charset="-120"/>
              </a:rPr>
              <a:t>SCORE 15+ ARE SLIDE-WORTHY</a:t>
            </a:r>
            <a:endParaRPr lang="en-US" sz="900" dirty="0"/>
          </a:p>
        </p:txBody>
      </p:sp>
      <p:sp>
        <p:nvSpPr>
          <p:cNvPr id="27" name="Text 25"/>
          <p:cNvSpPr/>
          <p:nvPr/>
        </p:nvSpPr>
        <p:spPr>
          <a:xfrm>
            <a:off x="9326880" y="5349240"/>
            <a:ext cx="2194560" cy="64008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~50</a:t>
            </a:r>
            <a:endParaRPr lang="en-US" sz="2800" dirty="0"/>
          </a:p>
        </p:txBody>
      </p:sp>
      <p:sp>
        <p:nvSpPr>
          <p:cNvPr id="28" name="Text 26"/>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Ayxan Muxtar  ·  eiLink RA-DS 2026</a:t>
            </a:r>
            <a:endParaRPr lang="en-US" sz="900" dirty="0"/>
          </a:p>
        </p:txBody>
      </p:sp>
      <p:sp>
        <p:nvSpPr>
          <p:cNvPr id="29" name="Text 27"/>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1C7293"/>
          </a:solidFill>
          <a:ln w="12700">
            <a:solidFill>
              <a:srgbClr val="1C7293"/>
            </a:solidFill>
            <a:prstDash val="solid"/>
          </a:ln>
        </p:spPr>
        <p:txBody>
          <a:bodyPr/>
          <a:lstStyle/>
          <a:p>
            <a:endParaRPr lang="en-US"/>
          </a:p>
        </p:txBody>
      </p:sp>
      <p:sp>
        <p:nvSpPr>
          <p:cNvPr id="3" name="Text 1"/>
          <p:cNvSpPr/>
          <p:nvPr/>
        </p:nvSpPr>
        <p:spPr>
          <a:xfrm>
            <a:off x="502920" y="228600"/>
            <a:ext cx="548640" cy="457200"/>
          </a:xfrm>
          <a:prstGeom prst="rect">
            <a:avLst/>
          </a:prstGeom>
          <a:noFill/>
          <a:ln/>
        </p:spPr>
        <p:txBody>
          <a:bodyPr wrap="square" lIns="0" tIns="0" rIns="0" bIns="0" rtlCol="0" anchor="ctr"/>
          <a:lstStyle/>
          <a:p>
            <a:pPr marL="0" indent="0">
              <a:buNone/>
            </a:pPr>
            <a:r>
              <a:rPr lang="en-US" sz="2800" b="1" dirty="0">
                <a:solidFill>
                  <a:srgbClr val="1C7293"/>
                </a:solidFill>
                <a:latin typeface="Calibri" pitchFamily="34" charset="0"/>
                <a:ea typeface="Calibri" pitchFamily="34" charset="-122"/>
                <a:cs typeface="Calibri" pitchFamily="34" charset="-120"/>
              </a:rPr>
              <a:t>16</a:t>
            </a:r>
            <a:endParaRPr lang="en-US" sz="2800" dirty="0"/>
          </a:p>
        </p:txBody>
      </p:sp>
      <p:sp>
        <p:nvSpPr>
          <p:cNvPr id="4" name="Text 2"/>
          <p:cNvSpPr/>
          <p:nvPr/>
        </p:nvSpPr>
        <p:spPr>
          <a:xfrm>
            <a:off x="1097280" y="228600"/>
            <a:ext cx="1060704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feedback loop into nds_events.xlsx</a:t>
            </a:r>
            <a:endParaRPr lang="en-US" sz="2600" dirty="0"/>
          </a:p>
        </p:txBody>
      </p:sp>
      <p:sp>
        <p:nvSpPr>
          <p:cNvPr id="5" name="Text 3"/>
          <p:cNvSpPr/>
          <p:nvPr/>
        </p:nvSpPr>
        <p:spPr>
          <a:xfrm>
            <a:off x="1097280" y="713232"/>
            <a:ext cx="1060704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Layer C — turning the corpus into NDS-event candidates</a:t>
            </a:r>
            <a:endParaRPr lang="en-US" sz="1300" dirty="0"/>
          </a:p>
        </p:txBody>
      </p:sp>
      <p:sp>
        <p:nvSpPr>
          <p:cNvPr id="6" name="Text 4"/>
          <p:cNvSpPr/>
          <p:nvPr/>
        </p:nvSpPr>
        <p:spPr>
          <a:xfrm>
            <a:off x="502920" y="1143000"/>
            <a:ext cx="10972800" cy="274320"/>
          </a:xfrm>
          <a:prstGeom prst="rect">
            <a:avLst/>
          </a:prstGeom>
          <a:noFill/>
          <a:ln/>
        </p:spPr>
        <p:txBody>
          <a:bodyPr wrap="square" lIns="0" tIns="0" rIns="0" bIns="0" rtlCol="0" anchor="ctr"/>
          <a:lstStyle/>
          <a:p>
            <a:pPr marL="0" indent="0">
              <a:buNone/>
            </a:pPr>
            <a:r>
              <a:rPr lang="en-US" sz="1100" b="1" kern="0" spc="300" dirty="0">
                <a:solidFill>
                  <a:srgbClr val="1C7293"/>
                </a:solidFill>
                <a:latin typeface="Calibri" pitchFamily="34" charset="0"/>
                <a:ea typeface="Calibri" pitchFamily="34" charset="-122"/>
                <a:cs typeface="Calibri" pitchFamily="34" charset="-120"/>
              </a:rPr>
              <a:t>THE IDEA</a:t>
            </a:r>
            <a:endParaRPr lang="en-US" sz="1100" dirty="0"/>
          </a:p>
        </p:txBody>
      </p:sp>
      <p:sp>
        <p:nvSpPr>
          <p:cNvPr id="7" name="Shape 5"/>
          <p:cNvSpPr/>
          <p:nvPr/>
        </p:nvSpPr>
        <p:spPr>
          <a:xfrm>
            <a:off x="502920" y="1417320"/>
            <a:ext cx="11155680" cy="1005840"/>
          </a:xfrm>
          <a:prstGeom prst="rect">
            <a:avLst/>
          </a:prstGeom>
          <a:solidFill>
            <a:srgbClr val="E6F1F7"/>
          </a:solidFill>
          <a:ln w="12700">
            <a:solidFill>
              <a:srgbClr val="E6F1F7"/>
            </a:solidFill>
            <a:prstDash val="solid"/>
          </a:ln>
        </p:spPr>
        <p:txBody>
          <a:bodyPr/>
          <a:lstStyle/>
          <a:p>
            <a:endParaRPr lang="en-US"/>
          </a:p>
        </p:txBody>
      </p:sp>
      <p:sp>
        <p:nvSpPr>
          <p:cNvPr id="8" name="Text 6"/>
          <p:cNvSpPr/>
          <p:nvPr/>
        </p:nvSpPr>
        <p:spPr>
          <a:xfrm>
            <a:off x="777240" y="1508760"/>
            <a:ext cx="10607040" cy="868680"/>
          </a:xfrm>
          <a:prstGeom prst="rect">
            <a:avLst/>
          </a:prstGeom>
          <a:noFill/>
          <a:ln/>
        </p:spPr>
        <p:txBody>
          <a:bodyPr wrap="square" lIns="0" tIns="0" rIns="0" bIns="0" rtlCol="0" anchor="t"/>
          <a:lstStyle/>
          <a:p>
            <a:pPr marL="0" indent="0">
              <a:buNone/>
            </a:pPr>
            <a:r>
              <a:rPr lang="en-US" sz="1200" dirty="0">
                <a:solidFill>
                  <a:srgbClr val="1E293B"/>
                </a:solidFill>
                <a:latin typeface="Calibri" pitchFamily="34" charset="0"/>
                <a:ea typeface="Calibri" pitchFamily="34" charset="-122"/>
                <a:cs typeface="Calibri" pitchFamily="34" charset="-120"/>
              </a:rPr>
              <a:t>NDS events ("clay accumulation in BHA…") are written by experts AFTER reading reports. But the corpus itself contains 1,065 severe events the experts haven't catalogued yet. The pipeline can mine these and propose new NDS event candidates per well — closing the loop between reports and the curated event list.</a:t>
            </a:r>
            <a:endParaRPr lang="en-US" sz="1200" dirty="0"/>
          </a:p>
        </p:txBody>
      </p:sp>
      <p:sp>
        <p:nvSpPr>
          <p:cNvPr id="9" name="Text 7"/>
          <p:cNvSpPr/>
          <p:nvPr/>
        </p:nvSpPr>
        <p:spPr>
          <a:xfrm>
            <a:off x="502920" y="2606040"/>
            <a:ext cx="10972800" cy="274320"/>
          </a:xfrm>
          <a:prstGeom prst="rect">
            <a:avLst/>
          </a:prstGeom>
          <a:noFill/>
          <a:ln/>
        </p:spPr>
        <p:txBody>
          <a:bodyPr wrap="square" lIns="0" tIns="0" rIns="0" bIns="0" rtlCol="0" anchor="ctr"/>
          <a:lstStyle/>
          <a:p>
            <a:pPr marL="0" indent="0">
              <a:buNone/>
            </a:pPr>
            <a:r>
              <a:rPr lang="en-US" sz="1100" b="1" kern="0" spc="300" dirty="0">
                <a:solidFill>
                  <a:srgbClr val="1C7293"/>
                </a:solidFill>
                <a:latin typeface="Calibri" pitchFamily="34" charset="0"/>
                <a:ea typeface="Calibri" pitchFamily="34" charset="-122"/>
                <a:cs typeface="Calibri" pitchFamily="34" charset="-120"/>
              </a:rPr>
              <a:t>HOW</a:t>
            </a:r>
            <a:endParaRPr lang="en-US" sz="1100" dirty="0"/>
          </a:p>
        </p:txBody>
      </p:sp>
      <p:sp>
        <p:nvSpPr>
          <p:cNvPr id="10" name="Text 8"/>
          <p:cNvSpPr/>
          <p:nvPr/>
        </p:nvSpPr>
        <p:spPr>
          <a:xfrm>
            <a:off x="502920" y="2871029"/>
            <a:ext cx="11155680" cy="502920"/>
          </a:xfrm>
          <a:prstGeom prst="rect">
            <a:avLst/>
          </a:prstGeom>
          <a:noFill/>
          <a:ln/>
        </p:spPr>
        <p:txBody>
          <a:bodyPr wrap="square" lIns="0" tIns="0" rIns="0" bIns="0" rtlCol="0" anchor="ctr"/>
          <a:lstStyle/>
          <a:p>
            <a:pPr marL="0" indent="0">
              <a:buNone/>
            </a:pPr>
            <a:r>
              <a:rPr lang="en-US" sz="1200" i="1" dirty="0">
                <a:solidFill>
                  <a:srgbClr val="1E293B"/>
                </a:solidFill>
                <a:latin typeface="Calibri" pitchFamily="34" charset="0"/>
                <a:ea typeface="Calibri" pitchFamily="34" charset="-122"/>
                <a:cs typeface="Calibri" pitchFamily="34" charset="-120"/>
              </a:rPr>
              <a:t>Group operations by well_family. For each failure-class label (STUCK_PIPE, TIGHT_HOLE, FISHING, EQUIPMENT_FAILURE, WELL_CONTROL), count occurrences and sample 3 representative remarks. The result is a per-well "missing NDS events" report.</a:t>
            </a:r>
            <a:endParaRPr lang="en-US" sz="1200" dirty="0"/>
          </a:p>
        </p:txBody>
      </p:sp>
      <p:sp>
        <p:nvSpPr>
          <p:cNvPr id="11" name="Text 9"/>
          <p:cNvSpPr/>
          <p:nvPr/>
        </p:nvSpPr>
        <p:spPr>
          <a:xfrm>
            <a:off x="502920" y="3520440"/>
            <a:ext cx="10972800" cy="274320"/>
          </a:xfrm>
          <a:prstGeom prst="rect">
            <a:avLst/>
          </a:prstGeom>
          <a:noFill/>
          <a:ln/>
        </p:spPr>
        <p:txBody>
          <a:bodyPr wrap="square" lIns="0" tIns="0" rIns="0" bIns="0" rtlCol="0" anchor="ctr"/>
          <a:lstStyle/>
          <a:p>
            <a:pPr marL="0" indent="0">
              <a:buNone/>
            </a:pPr>
            <a:r>
              <a:rPr lang="en-US" sz="1100" b="1" kern="0" spc="300" dirty="0">
                <a:solidFill>
                  <a:srgbClr val="1C7293"/>
                </a:solidFill>
                <a:latin typeface="Calibri" pitchFamily="34" charset="0"/>
                <a:ea typeface="Calibri" pitchFamily="34" charset="-122"/>
                <a:cs typeface="Calibri" pitchFamily="34" charset="-120"/>
              </a:rPr>
              <a:t>WHAT THE OUTPUT LOOKS LIKE</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3794760"/>
          <a:ext cx="11155680" cy="2514600"/>
        </p:xfrm>
        <a:graphic>
          <a:graphicData uri="http://schemas.openxmlformats.org/drawingml/2006/table">
            <a:tbl>
              <a:tblPr/>
              <a:tblGrid>
                <a:gridCol w="14630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6583680">
                  <a:extLst>
                    <a:ext uri="{9D8B030D-6E8A-4147-A177-3AD203B41FA5}">
                      <a16:colId xmlns:a16="http://schemas.microsoft.com/office/drawing/2014/main" val="20003"/>
                    </a:ext>
                  </a:extLst>
                </a:gridCol>
              </a:tblGrid>
              <a:tr h="50292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Well</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Failure type</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Count</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Suggested NDS event candidate (paraphrased)</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50292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15/9-19</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FISHING</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b="1" dirty="0">
                          <a:solidFill>
                            <a:srgbClr val="F97316"/>
                          </a:solidFill>
                          <a:latin typeface="Calibri" pitchFamily="34" charset="0"/>
                          <a:ea typeface="Calibri" pitchFamily="34" charset="-122"/>
                          <a:cs typeface="Calibri" pitchFamily="34" charset="-120"/>
                        </a:rPr>
                        <a:t>92</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Recurring fishing operations across 26 years — multiple distinct incidents to catalog separately.</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15/9-F-12</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WELL_CONTROL</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b="1" dirty="0">
                          <a:solidFill>
                            <a:srgbClr val="DC2626"/>
                          </a:solidFill>
                          <a:latin typeface="Calibri" pitchFamily="34" charset="0"/>
                          <a:ea typeface="Calibri" pitchFamily="34" charset="-122"/>
                          <a:cs typeface="Calibri" pitchFamily="34" charset="-120"/>
                        </a:rPr>
                        <a:t>28</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Repeated kick/influx events during deep drilling phase.</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15/9-F-11</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EQUIPMENT_FAILURE</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b="1" dirty="0">
                          <a:solidFill>
                            <a:srgbClr val="F97316"/>
                          </a:solidFill>
                          <a:latin typeface="Calibri" pitchFamily="34" charset="0"/>
                          <a:ea typeface="Calibri" pitchFamily="34" charset="-122"/>
                          <a:cs typeface="Calibri" pitchFamily="34" charset="-120"/>
                        </a:rPr>
                        <a:t>194</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Mud-pump and BOP failures during workover sidetracks.</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15/9-19</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TIGHT_HOLE</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b="1" dirty="0">
                          <a:solidFill>
                            <a:srgbClr val="1C7293"/>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Tight-hole patterns at specific depths — candidates for predictive flagging.</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3" name="Text 10"/>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Ayxan Muxtar  ·  eiLink RA-DS 2026</a:t>
            </a:r>
            <a:endParaRPr lang="en-US" sz="900" dirty="0"/>
          </a:p>
        </p:txBody>
      </p:sp>
      <p:sp>
        <p:nvSpPr>
          <p:cNvPr id="14" name="Text 11"/>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16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1C7293"/>
          </a:solidFill>
          <a:ln w="12700">
            <a:solidFill>
              <a:srgbClr val="1C7293"/>
            </a:solidFill>
            <a:prstDash val="solid"/>
          </a:ln>
        </p:spPr>
        <p:txBody>
          <a:bodyPr/>
          <a:lstStyle/>
          <a:p>
            <a:endParaRPr lang="en-US"/>
          </a:p>
        </p:txBody>
      </p:sp>
      <p:sp>
        <p:nvSpPr>
          <p:cNvPr id="3" name="Text 1"/>
          <p:cNvSpPr/>
          <p:nvPr/>
        </p:nvSpPr>
        <p:spPr>
          <a:xfrm>
            <a:off x="502920" y="228600"/>
            <a:ext cx="548640" cy="457200"/>
          </a:xfrm>
          <a:prstGeom prst="rect">
            <a:avLst/>
          </a:prstGeom>
          <a:noFill/>
          <a:ln/>
        </p:spPr>
        <p:txBody>
          <a:bodyPr wrap="square" lIns="0" tIns="0" rIns="0" bIns="0" rtlCol="0" anchor="ctr"/>
          <a:lstStyle/>
          <a:p>
            <a:pPr marL="0" indent="0">
              <a:buNone/>
            </a:pPr>
            <a:r>
              <a:rPr lang="en-US" sz="2800" b="1" dirty="0">
                <a:solidFill>
                  <a:srgbClr val="1C7293"/>
                </a:solidFill>
                <a:latin typeface="Calibri" pitchFamily="34" charset="0"/>
                <a:ea typeface="Calibri" pitchFamily="34" charset="-122"/>
                <a:cs typeface="Calibri" pitchFamily="34" charset="-120"/>
              </a:rPr>
              <a:t>18</a:t>
            </a:r>
            <a:endParaRPr lang="en-US" sz="2800" dirty="0"/>
          </a:p>
        </p:txBody>
      </p:sp>
      <p:sp>
        <p:nvSpPr>
          <p:cNvPr id="4" name="Text 2"/>
          <p:cNvSpPr/>
          <p:nvPr/>
        </p:nvSpPr>
        <p:spPr>
          <a:xfrm>
            <a:off x="1097280" y="228600"/>
            <a:ext cx="1060704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What happened and how it fixed</a:t>
            </a:r>
            <a:endParaRPr lang="en-US" sz="2600" dirty="0"/>
          </a:p>
        </p:txBody>
      </p:sp>
      <p:sp>
        <p:nvSpPr>
          <p:cNvPr id="5" name="Text 3"/>
          <p:cNvSpPr/>
          <p:nvPr/>
        </p:nvSpPr>
        <p:spPr>
          <a:xfrm>
            <a:off x="1097280" y="713232"/>
            <a:ext cx="1060704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The mistakes were the most useful part of the work</a:t>
            </a:r>
            <a:endParaRPr lang="en-US" sz="1300" dirty="0"/>
          </a:p>
        </p:txBody>
      </p:sp>
      <p:sp>
        <p:nvSpPr>
          <p:cNvPr id="6" name="Shape 4"/>
          <p:cNvSpPr/>
          <p:nvPr/>
        </p:nvSpPr>
        <p:spPr>
          <a:xfrm>
            <a:off x="502920" y="1188720"/>
            <a:ext cx="11155680" cy="1417320"/>
          </a:xfrm>
          <a:prstGeom prst="rect">
            <a:avLst/>
          </a:prstGeom>
          <a:solidFill>
            <a:srgbClr val="FFFFFF"/>
          </a:solidFill>
          <a:ln w="12700">
            <a:solidFill>
              <a:srgbClr val="1C7293"/>
            </a:solidFill>
            <a:prstDash val="solid"/>
          </a:ln>
        </p:spPr>
        <p:txBody>
          <a:bodyPr/>
          <a:lstStyle/>
          <a:p>
            <a:endParaRPr lang="en-US"/>
          </a:p>
        </p:txBody>
      </p:sp>
      <p:sp>
        <p:nvSpPr>
          <p:cNvPr id="7" name="Text 5"/>
          <p:cNvSpPr/>
          <p:nvPr/>
        </p:nvSpPr>
        <p:spPr>
          <a:xfrm>
            <a:off x="777240" y="1280160"/>
            <a:ext cx="10972800" cy="320040"/>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First TF-IDF run skipped abbreviation expansion</a:t>
            </a:r>
            <a:endParaRPr lang="en-US" sz="1400" dirty="0"/>
          </a:p>
        </p:txBody>
      </p:sp>
      <p:sp>
        <p:nvSpPr>
          <p:cNvPr id="8" name="Text 6"/>
          <p:cNvSpPr/>
          <p:nvPr/>
        </p:nvSpPr>
        <p:spPr>
          <a:xfrm>
            <a:off x="777240" y="1645920"/>
            <a:ext cx="10972800" cy="960120"/>
          </a:xfrm>
          <a:prstGeom prst="rect">
            <a:avLst/>
          </a:prstGeom>
          <a:noFill/>
          <a:ln/>
        </p:spPr>
        <p:txBody>
          <a:bodyPr wrap="square" lIns="0" tIns="0" rIns="0" bIns="0" rtlCol="0" anchor="ctr"/>
          <a:lstStyle/>
          <a:p>
            <a:pPr marL="0" indent="0">
              <a:spcAft>
                <a:spcPts val="300"/>
              </a:spcAft>
              <a:buNone/>
            </a:pPr>
            <a:r>
              <a:rPr lang="en-US" sz="1000" b="1" kern="0" spc="200" dirty="0">
                <a:solidFill>
                  <a:srgbClr val="64748B"/>
                </a:solidFill>
                <a:latin typeface="Calibri" pitchFamily="34" charset="0"/>
                <a:ea typeface="Calibri" pitchFamily="34" charset="-122"/>
                <a:cs typeface="Calibri" pitchFamily="34" charset="-120"/>
              </a:rPr>
              <a:t>WHAT HAPPENED:  </a:t>
            </a:r>
            <a:r>
              <a:rPr lang="en-US" sz="1200" dirty="0">
                <a:solidFill>
                  <a:srgbClr val="1E293B"/>
                </a:solidFill>
                <a:latin typeface="Calibri" pitchFamily="34" charset="0"/>
                <a:ea typeface="Calibri" pitchFamily="34" charset="-122"/>
                <a:cs typeface="Calibri" pitchFamily="34" charset="-120"/>
              </a:rPr>
              <a:t>Result was unsurprising: POOH and 'pull out of hole' were treated as different tokens. Match scores looked 'fine' because both query and corpus used POOH — but the moment a query used the long form, scores collapsed.</a:t>
            </a:r>
            <a:endParaRPr lang="en-US" sz="1000" dirty="0"/>
          </a:p>
          <a:p>
            <a:pPr marL="0" indent="0">
              <a:spcAft>
                <a:spcPts val="300"/>
              </a:spcAft>
              <a:buNone/>
            </a:pPr>
            <a:r>
              <a:rPr lang="en-US" sz="1000" b="1" kern="0" spc="200" dirty="0">
                <a:solidFill>
                  <a:srgbClr val="F97316"/>
                </a:solidFill>
                <a:latin typeface="Calibri" pitchFamily="34" charset="0"/>
                <a:ea typeface="Calibri" pitchFamily="34" charset="-122"/>
                <a:cs typeface="Calibri" pitchFamily="34" charset="-120"/>
              </a:rPr>
              <a:t>LESSON:  </a:t>
            </a:r>
            <a:r>
              <a:rPr lang="en-US" sz="1200" i="1" dirty="0">
                <a:solidFill>
                  <a:srgbClr val="1E293B"/>
                </a:solidFill>
                <a:latin typeface="Calibri" pitchFamily="34" charset="0"/>
                <a:ea typeface="Calibri" pitchFamily="34" charset="-122"/>
                <a:cs typeface="Calibri" pitchFamily="34" charset="-120"/>
              </a:rPr>
              <a:t>Don't trust matching scores in isolation. Run cross-form sanity checks before declaring a method good.</a:t>
            </a:r>
            <a:endParaRPr lang="en-US" sz="1000" dirty="0"/>
          </a:p>
        </p:txBody>
      </p:sp>
      <p:sp>
        <p:nvSpPr>
          <p:cNvPr id="9" name="Shape 7"/>
          <p:cNvSpPr/>
          <p:nvPr/>
        </p:nvSpPr>
        <p:spPr>
          <a:xfrm>
            <a:off x="502920" y="2743200"/>
            <a:ext cx="11155680" cy="1417320"/>
          </a:xfrm>
          <a:prstGeom prst="rect">
            <a:avLst/>
          </a:prstGeom>
          <a:solidFill>
            <a:srgbClr val="FFFFFF"/>
          </a:solidFill>
          <a:ln w="12700">
            <a:solidFill>
              <a:srgbClr val="1C7293"/>
            </a:solidFill>
            <a:prstDash val="solid"/>
          </a:ln>
        </p:spPr>
        <p:txBody>
          <a:bodyPr/>
          <a:lstStyle/>
          <a:p>
            <a:endParaRPr lang="en-US"/>
          </a:p>
        </p:txBody>
      </p:sp>
      <p:sp>
        <p:nvSpPr>
          <p:cNvPr id="10" name="Text 8"/>
          <p:cNvSpPr/>
          <p:nvPr/>
        </p:nvSpPr>
        <p:spPr>
          <a:xfrm>
            <a:off x="777240" y="2834640"/>
            <a:ext cx="10972800" cy="320040"/>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Initial header parser used flat text + global regex</a:t>
            </a:r>
            <a:endParaRPr lang="en-US" sz="1400" dirty="0"/>
          </a:p>
        </p:txBody>
      </p:sp>
      <p:sp>
        <p:nvSpPr>
          <p:cNvPr id="11" name="Text 9"/>
          <p:cNvSpPr/>
          <p:nvPr/>
        </p:nvSpPr>
        <p:spPr>
          <a:xfrm>
            <a:off x="777240" y="3200400"/>
            <a:ext cx="10972800" cy="960120"/>
          </a:xfrm>
          <a:prstGeom prst="rect">
            <a:avLst/>
          </a:prstGeom>
          <a:noFill/>
          <a:ln/>
        </p:spPr>
        <p:txBody>
          <a:bodyPr wrap="square" lIns="0" tIns="0" rIns="0" bIns="0" rtlCol="0" anchor="ctr"/>
          <a:lstStyle/>
          <a:p>
            <a:pPr marL="0" indent="0">
              <a:spcAft>
                <a:spcPts val="300"/>
              </a:spcAft>
              <a:buNone/>
            </a:pPr>
            <a:r>
              <a:rPr lang="en-US" sz="1000" b="1" kern="0" spc="200" dirty="0">
                <a:solidFill>
                  <a:srgbClr val="64748B"/>
                </a:solidFill>
                <a:latin typeface="Calibri" pitchFamily="34" charset="0"/>
                <a:ea typeface="Calibri" pitchFamily="34" charset="-122"/>
                <a:cs typeface="Calibri" pitchFamily="34" charset="-120"/>
              </a:rPr>
              <a:t>WHAT HAPPENED:  </a:t>
            </a:r>
            <a:r>
              <a:rPr lang="en-US" sz="1200" dirty="0">
                <a:solidFill>
                  <a:srgbClr val="1E293B"/>
                </a:solidFill>
                <a:latin typeface="Calibri" pitchFamily="34" charset="0"/>
                <a:ea typeface="Calibri" pitchFamily="34" charset="-122"/>
                <a:cs typeface="Calibri" pitchFamily="34" charset="-120"/>
              </a:rPr>
              <a:t>Worked fine on single-column lines. Failed silently on the two-column layout because the regex stop-token was the next label, which sat right next to the current label. Capture group was empty, field went NULL.</a:t>
            </a:r>
            <a:endParaRPr lang="en-US" sz="1000" dirty="0"/>
          </a:p>
          <a:p>
            <a:pPr marL="0" indent="0">
              <a:spcAft>
                <a:spcPts val="300"/>
              </a:spcAft>
              <a:buNone/>
            </a:pPr>
            <a:r>
              <a:rPr lang="en-US" sz="1000" b="1" kern="0" spc="200" dirty="0">
                <a:solidFill>
                  <a:srgbClr val="F97316"/>
                </a:solidFill>
                <a:latin typeface="Calibri" pitchFamily="34" charset="0"/>
                <a:ea typeface="Calibri" pitchFamily="34" charset="-122"/>
                <a:cs typeface="Calibri" pitchFamily="34" charset="-120"/>
              </a:rPr>
              <a:t>LESSON:  </a:t>
            </a:r>
            <a:r>
              <a:rPr lang="en-US" sz="1200" i="1" dirty="0">
                <a:solidFill>
                  <a:srgbClr val="1E293B"/>
                </a:solidFill>
                <a:latin typeface="Calibri" pitchFamily="34" charset="0"/>
                <a:ea typeface="Calibri" pitchFamily="34" charset="-122"/>
                <a:cs typeface="Calibri" pitchFamily="34" charset="-120"/>
              </a:rPr>
              <a:t>When a parser can fail silently, it will. Always smoke-test populated-row counts after ingestion, not just row counts.</a:t>
            </a:r>
            <a:endParaRPr lang="en-US" sz="1000" dirty="0"/>
          </a:p>
        </p:txBody>
      </p:sp>
      <p:sp>
        <p:nvSpPr>
          <p:cNvPr id="12" name="Shape 10"/>
          <p:cNvSpPr/>
          <p:nvPr/>
        </p:nvSpPr>
        <p:spPr>
          <a:xfrm>
            <a:off x="502920" y="4297680"/>
            <a:ext cx="11155680" cy="1417320"/>
          </a:xfrm>
          <a:prstGeom prst="rect">
            <a:avLst/>
          </a:prstGeom>
          <a:solidFill>
            <a:srgbClr val="FFFFFF"/>
          </a:solidFill>
          <a:ln w="12700">
            <a:solidFill>
              <a:srgbClr val="1C7293"/>
            </a:solidFill>
            <a:prstDash val="solid"/>
          </a:ln>
        </p:spPr>
        <p:txBody>
          <a:bodyPr/>
          <a:lstStyle/>
          <a:p>
            <a:endParaRPr lang="en-US"/>
          </a:p>
        </p:txBody>
      </p:sp>
      <p:sp>
        <p:nvSpPr>
          <p:cNvPr id="13" name="Text 11"/>
          <p:cNvSpPr/>
          <p:nvPr/>
        </p:nvSpPr>
        <p:spPr>
          <a:xfrm>
            <a:off x="777240" y="4389120"/>
            <a:ext cx="10972800" cy="320040"/>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Tried a single 'OTHER' segment in the per-well chart</a:t>
            </a:r>
            <a:endParaRPr lang="en-US" sz="1400" dirty="0"/>
          </a:p>
        </p:txBody>
      </p:sp>
      <p:sp>
        <p:nvSpPr>
          <p:cNvPr id="14" name="Text 12"/>
          <p:cNvSpPr/>
          <p:nvPr/>
        </p:nvSpPr>
        <p:spPr>
          <a:xfrm>
            <a:off x="777240" y="4754880"/>
            <a:ext cx="10972800" cy="960120"/>
          </a:xfrm>
          <a:prstGeom prst="rect">
            <a:avLst/>
          </a:prstGeom>
          <a:noFill/>
          <a:ln/>
        </p:spPr>
        <p:txBody>
          <a:bodyPr wrap="square" lIns="0" tIns="0" rIns="0" bIns="0" rtlCol="0" anchor="ctr"/>
          <a:lstStyle/>
          <a:p>
            <a:pPr marL="0" indent="0">
              <a:spcAft>
                <a:spcPts val="300"/>
              </a:spcAft>
              <a:buNone/>
            </a:pPr>
            <a:r>
              <a:rPr lang="en-US" sz="1000" b="1" kern="0" spc="200" dirty="0">
                <a:solidFill>
                  <a:srgbClr val="64748B"/>
                </a:solidFill>
                <a:latin typeface="Calibri" pitchFamily="34" charset="0"/>
                <a:ea typeface="Calibri" pitchFamily="34" charset="-122"/>
                <a:cs typeface="Calibri" pitchFamily="34" charset="-120"/>
              </a:rPr>
              <a:t>WHAT HAPPENED:  </a:t>
            </a:r>
            <a:r>
              <a:rPr lang="en-US" sz="1200" dirty="0">
                <a:solidFill>
                  <a:srgbClr val="1E293B"/>
                </a:solidFill>
                <a:latin typeface="Calibri" pitchFamily="34" charset="0"/>
                <a:ea typeface="Calibri" pitchFamily="34" charset="-122"/>
                <a:cs typeface="Calibri" pitchFamily="34" charset="-120"/>
              </a:rPr>
              <a:t>The first version of slide 13 had OTHER in light gray. Bars looked like they only filled to ~60% — readers were confused. The data was correct; the visual was misleading.</a:t>
            </a:r>
            <a:endParaRPr lang="en-US" sz="1000" dirty="0"/>
          </a:p>
          <a:p>
            <a:pPr marL="0" indent="0">
              <a:spcAft>
                <a:spcPts val="300"/>
              </a:spcAft>
              <a:buNone/>
            </a:pPr>
            <a:r>
              <a:rPr lang="en-US" sz="1000" b="1" kern="0" spc="200" dirty="0">
                <a:solidFill>
                  <a:srgbClr val="F97316"/>
                </a:solidFill>
                <a:latin typeface="Calibri" pitchFamily="34" charset="0"/>
                <a:ea typeface="Calibri" pitchFamily="34" charset="-122"/>
                <a:cs typeface="Calibri" pitchFamily="34" charset="-120"/>
              </a:rPr>
              <a:t>LESSON:  </a:t>
            </a:r>
            <a:r>
              <a:rPr lang="en-US" sz="1200" i="1" dirty="0">
                <a:solidFill>
                  <a:srgbClr val="1E293B"/>
                </a:solidFill>
                <a:latin typeface="Calibri" pitchFamily="34" charset="0"/>
                <a:ea typeface="Calibri" pitchFamily="34" charset="-122"/>
                <a:cs typeface="Calibri" pitchFamily="34" charset="-120"/>
              </a:rPr>
              <a:t>Color choice IS a data choice. A neutral gray reads as 'absent' even when the value is real.</a:t>
            </a:r>
            <a:endParaRPr lang="en-US" sz="1000" dirty="0"/>
          </a:p>
        </p:txBody>
      </p:sp>
      <p:sp>
        <p:nvSpPr>
          <p:cNvPr id="15" name="Text 13"/>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Ayxan Muxtar  ·  eiLink RA-DS 2026</a:t>
            </a:r>
            <a:endParaRPr lang="en-US" sz="900" dirty="0"/>
          </a:p>
        </p:txBody>
      </p:sp>
      <p:sp>
        <p:nvSpPr>
          <p:cNvPr id="16" name="Text 14"/>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17 /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640080" y="640080"/>
            <a:ext cx="109728" cy="1005840"/>
          </a:xfrm>
          <a:prstGeom prst="rect">
            <a:avLst/>
          </a:prstGeom>
          <a:solidFill>
            <a:srgbClr val="F97316"/>
          </a:solidFill>
          <a:ln w="12700">
            <a:solidFill>
              <a:srgbClr val="F97316"/>
            </a:solidFill>
            <a:prstDash val="solid"/>
          </a:ln>
        </p:spPr>
        <p:txBody>
          <a:bodyPr/>
          <a:lstStyle/>
          <a:p>
            <a:endParaRPr lang="en-US"/>
          </a:p>
        </p:txBody>
      </p:sp>
      <p:sp>
        <p:nvSpPr>
          <p:cNvPr id="3" name="Text 1"/>
          <p:cNvSpPr/>
          <p:nvPr/>
        </p:nvSpPr>
        <p:spPr>
          <a:xfrm>
            <a:off x="914400" y="1020769"/>
            <a:ext cx="10058400" cy="274320"/>
          </a:xfrm>
          <a:prstGeom prst="rect">
            <a:avLst/>
          </a:prstGeom>
          <a:noFill/>
          <a:ln/>
        </p:spPr>
        <p:txBody>
          <a:bodyPr wrap="square" lIns="0" tIns="0" rIns="0" bIns="0" rtlCol="0" anchor="ctr"/>
          <a:lstStyle/>
          <a:p>
            <a:pPr marL="0" indent="0">
              <a:buNone/>
            </a:pPr>
            <a:r>
              <a:rPr lang="en-US" sz="2800" b="1" kern="0" spc="400" dirty="0">
                <a:solidFill>
                  <a:srgbClr val="F97316"/>
                </a:solidFill>
                <a:latin typeface="Calibri" pitchFamily="34" charset="0"/>
                <a:ea typeface="Calibri" pitchFamily="34" charset="-122"/>
                <a:cs typeface="Calibri" pitchFamily="34" charset="-120"/>
              </a:rPr>
              <a:t>CLOSING</a:t>
            </a:r>
            <a:endParaRPr lang="en-US" sz="2800" dirty="0"/>
          </a:p>
        </p:txBody>
      </p:sp>
      <p:sp>
        <p:nvSpPr>
          <p:cNvPr id="4" name="Text 2"/>
          <p:cNvSpPr/>
          <p:nvPr/>
        </p:nvSpPr>
        <p:spPr>
          <a:xfrm>
            <a:off x="914400" y="960120"/>
            <a:ext cx="10972800" cy="640080"/>
          </a:xfrm>
          <a:prstGeom prst="rect">
            <a:avLst/>
          </a:prstGeom>
          <a:noFill/>
          <a:ln/>
        </p:spPr>
        <p:txBody>
          <a:bodyPr wrap="square" lIns="0" tIns="0" rIns="0" bIns="0" rtlCol="0" anchor="ctr"/>
          <a:lstStyle/>
          <a:p>
            <a:pPr marL="0" indent="0">
              <a:buNone/>
            </a:pPr>
            <a:endParaRPr lang="en-US" sz="2800" dirty="0"/>
          </a:p>
        </p:txBody>
      </p:sp>
      <p:sp>
        <p:nvSpPr>
          <p:cNvPr id="17" name="Text 15"/>
          <p:cNvSpPr/>
          <p:nvPr/>
        </p:nvSpPr>
        <p:spPr>
          <a:xfrm>
            <a:off x="749808" y="2246812"/>
            <a:ext cx="10972800" cy="365760"/>
          </a:xfrm>
          <a:prstGeom prst="rect">
            <a:avLst/>
          </a:prstGeom>
          <a:noFill/>
          <a:ln/>
        </p:spPr>
        <p:txBody>
          <a:bodyPr wrap="square" lIns="0" tIns="0" rIns="0" bIns="0" rtlCol="0" anchor="ctr"/>
          <a:lstStyle/>
          <a:p>
            <a:pPr marL="0" indent="0">
              <a:buNone/>
            </a:pPr>
            <a:r>
              <a:rPr lang="en-US" sz="5400" b="1" kern="0" spc="400" dirty="0">
                <a:solidFill>
                  <a:schemeClr val="bg1"/>
                </a:solidFill>
                <a:latin typeface="Calibri" pitchFamily="34" charset="0"/>
                <a:ea typeface="Calibri" pitchFamily="34" charset="-122"/>
                <a:cs typeface="Calibri" pitchFamily="34" charset="-120"/>
              </a:rPr>
              <a:t>THANK YOU FOR YOUR TIME</a:t>
            </a:r>
            <a:endParaRPr lang="en-US" sz="5400" dirty="0">
              <a:solidFill>
                <a:schemeClr val="bg1"/>
              </a:solidFill>
            </a:endParaRPr>
          </a:p>
        </p:txBody>
      </p:sp>
      <p:sp>
        <p:nvSpPr>
          <p:cNvPr id="19" name="Text 17"/>
          <p:cNvSpPr/>
          <p:nvPr/>
        </p:nvSpPr>
        <p:spPr>
          <a:xfrm>
            <a:off x="640080" y="6263640"/>
            <a:ext cx="10972800" cy="274320"/>
          </a:xfrm>
          <a:prstGeom prst="rect">
            <a:avLst/>
          </a:prstGeom>
          <a:noFill/>
          <a:ln/>
        </p:spPr>
        <p:txBody>
          <a:bodyPr wrap="square" lIns="0" tIns="0" rIns="0" bIns="0" rtlCol="0" anchor="ctr"/>
          <a:lstStyle/>
          <a:p>
            <a:pPr marL="0" indent="0">
              <a:buNone/>
            </a:pPr>
            <a:r>
              <a:rPr lang="en-US" sz="1100" dirty="0">
                <a:solidFill>
                  <a:srgbClr val="9CB4D9"/>
                </a:solidFill>
                <a:latin typeface="Calibri" pitchFamily="34" charset="0"/>
                <a:ea typeface="Calibri" pitchFamily="34" charset="-122"/>
                <a:cs typeface="Calibri" pitchFamily="34" charset="-120"/>
              </a:rPr>
              <a:t>Ayxan Muxtar  ·  github.com/AyxanMuxtar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3284</Words>
  <Application>Microsoft Office PowerPoint</Application>
  <PresentationFormat>Widescreen</PresentationFormat>
  <Paragraphs>339</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eiLink RA-DS — Drilling Report Pipeline</dc:title>
  <dc:subject>PptxGenJS Presentation</dc:subject>
  <dc:creator>Ayxan Muxtar</dc:creator>
  <cp:lastModifiedBy>Ayxan Muxtar</cp:lastModifiedBy>
  <cp:revision>2</cp:revision>
  <dcterms:created xsi:type="dcterms:W3CDTF">2026-05-08T05:13:55Z</dcterms:created>
  <dcterms:modified xsi:type="dcterms:W3CDTF">2026-05-08T12:24:55Z</dcterms:modified>
</cp:coreProperties>
</file>